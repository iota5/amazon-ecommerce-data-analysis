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aleway"/>
      <p:regular r:id="rId24"/>
      <p:bold r:id="rId25"/>
      <p:italic r:id="rId26"/>
      <p:boldItalic r:id="rId27"/>
    </p:embeddedFont>
    <p:embeddedFont>
      <p:font typeface="Lato"/>
      <p:regular r:id="rId28"/>
      <p:bold r:id="rId29"/>
      <p:italic r:id="rId30"/>
      <p:boldItalic r:id="rId31"/>
    </p:embeddedFont>
    <p:embeddedFont>
      <p:font typeface="Geist"/>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aleway-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italic.fntdata"/><Relationship Id="rId25" Type="http://schemas.openxmlformats.org/officeDocument/2006/relationships/font" Target="fonts/Raleway-bold.fntdata"/><Relationship Id="rId28" Type="http://schemas.openxmlformats.org/officeDocument/2006/relationships/font" Target="fonts/Lato-regular.fntdata"/><Relationship Id="rId27" Type="http://schemas.openxmlformats.org/officeDocument/2006/relationships/font" Target="fonts/Raleway-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33" Type="http://schemas.openxmlformats.org/officeDocument/2006/relationships/font" Target="fonts/Geist-bold.fntdata"/><Relationship Id="rId10" Type="http://schemas.openxmlformats.org/officeDocument/2006/relationships/slide" Target="slides/slide5.xml"/><Relationship Id="rId32" Type="http://schemas.openxmlformats.org/officeDocument/2006/relationships/font" Target="fonts/Geist-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c065caf87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c065caf87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065caf87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065caf87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065caf87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065caf87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c065caf87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c065caf87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065caf87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065caf87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065caf87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c065caf87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065caf87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065caf87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065caf87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065caf87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065caf87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065caf87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065caf87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065caf87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065caf87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065caf87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065caf87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065caf87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065caf878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065caf878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065caf87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065caf87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065caf878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065caf878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065caf878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065caf878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065caf87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065caf87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0150" y="595525"/>
            <a:ext cx="8183700" cy="1473600"/>
          </a:xfrm>
          <a:prstGeom prst="rect">
            <a:avLst/>
          </a:prstGeom>
        </p:spPr>
        <p:txBody>
          <a:bodyPr anchorCtr="0" anchor="b" bIns="91425" lIns="91425" spcFirstLastPara="1" rIns="91425" wrap="square" tIns="91425">
            <a:normAutofit/>
          </a:bodyPr>
          <a:lstStyle/>
          <a:p>
            <a:pPr indent="0" lvl="0" marL="0" rtl="0" algn="ctr">
              <a:spcBef>
                <a:spcPts val="1000"/>
              </a:spcBef>
              <a:spcAft>
                <a:spcPts val="0"/>
              </a:spcAft>
              <a:buNone/>
            </a:pPr>
            <a:r>
              <a:rPr lang="en" sz="3200">
                <a:latin typeface="Lato"/>
                <a:ea typeface="Lato"/>
                <a:cs typeface="Lato"/>
                <a:sym typeface="Lato"/>
              </a:rPr>
              <a:t>Amazon E-Commerce Analysis</a:t>
            </a:r>
            <a:endParaRPr sz="5000"/>
          </a:p>
        </p:txBody>
      </p:sp>
      <p:sp>
        <p:nvSpPr>
          <p:cNvPr id="59" name="Google Shape;59;p13"/>
          <p:cNvSpPr txBox="1"/>
          <p:nvPr/>
        </p:nvSpPr>
        <p:spPr>
          <a:xfrm>
            <a:off x="2912400" y="4050025"/>
            <a:ext cx="3319200" cy="44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Source Sans Pro"/>
                <a:ea typeface="Source Sans Pro"/>
                <a:cs typeface="Source Sans Pro"/>
                <a:sym typeface="Source Sans Pro"/>
              </a:rPr>
              <a:t>Submitted by: Akhil Chauhan</a:t>
            </a:r>
            <a:endParaRPr sz="1800">
              <a:solidFill>
                <a:srgbClr val="FFFFFF"/>
              </a:solidFill>
              <a:latin typeface="Source Sans Pro"/>
              <a:ea typeface="Source Sans Pro"/>
              <a:cs typeface="Source Sans Pro"/>
              <a:sym typeface="Source Sans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Agenda - Free of Charge Creative Commons Notepad 1 image" id="64" name="Google Shape;64;p14"/>
          <p:cNvPicPr preferRelativeResize="0"/>
          <p:nvPr/>
        </p:nvPicPr>
        <p:blipFill>
          <a:blip r:embed="rId3">
            <a:alphaModFix/>
          </a:blip>
          <a:stretch>
            <a:fillRect/>
          </a:stretch>
        </p:blipFill>
        <p:spPr>
          <a:xfrm>
            <a:off x="4237425" y="915450"/>
            <a:ext cx="4251674" cy="2833750"/>
          </a:xfrm>
          <a:prstGeom prst="rect">
            <a:avLst/>
          </a:prstGeom>
          <a:noFill/>
          <a:ln>
            <a:noFill/>
          </a:ln>
        </p:spPr>
      </p:pic>
      <p:sp>
        <p:nvSpPr>
          <p:cNvPr id="65" name="Google Shape;65;p14"/>
          <p:cNvSpPr txBox="1"/>
          <p:nvPr/>
        </p:nvSpPr>
        <p:spPr>
          <a:xfrm>
            <a:off x="464100" y="597425"/>
            <a:ext cx="8520600" cy="623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3000">
                <a:solidFill>
                  <a:srgbClr val="000000"/>
                </a:solidFill>
                <a:latin typeface="Raleway"/>
                <a:ea typeface="Raleway"/>
                <a:cs typeface="Raleway"/>
                <a:sym typeface="Raleway"/>
              </a:rPr>
              <a:t>Agenda</a:t>
            </a:r>
            <a:endParaRPr b="1" sz="3000">
              <a:solidFill>
                <a:srgbClr val="000000"/>
              </a:solidFill>
              <a:latin typeface="Raleway"/>
              <a:ea typeface="Raleway"/>
              <a:cs typeface="Raleway"/>
              <a:sym typeface="Raleway"/>
            </a:endParaRPr>
          </a:p>
        </p:txBody>
      </p:sp>
      <p:sp>
        <p:nvSpPr>
          <p:cNvPr id="66" name="Google Shape;66;p14"/>
          <p:cNvSpPr txBox="1"/>
          <p:nvPr/>
        </p:nvSpPr>
        <p:spPr>
          <a:xfrm>
            <a:off x="464100" y="1304875"/>
            <a:ext cx="37011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rgbClr val="000000"/>
              </a:buClr>
              <a:buSzPts val="1800"/>
              <a:buFont typeface="Arial"/>
              <a:buChar char="●"/>
            </a:pPr>
            <a:r>
              <a:rPr lang="en" sz="1800"/>
              <a:t>Problem Statement</a:t>
            </a:r>
            <a:endParaRPr sz="1800"/>
          </a:p>
          <a:p>
            <a:pPr indent="-342900" lvl="0" marL="457200" rtl="0" algn="l">
              <a:lnSpc>
                <a:spcPct val="115000"/>
              </a:lnSpc>
              <a:spcBef>
                <a:spcPts val="0"/>
              </a:spcBef>
              <a:spcAft>
                <a:spcPts val="0"/>
              </a:spcAft>
              <a:buClr>
                <a:srgbClr val="000000"/>
              </a:buClr>
              <a:buSzPts val="1800"/>
              <a:buFont typeface="Arial"/>
              <a:buChar char="●"/>
            </a:pPr>
            <a:r>
              <a:rPr lang="en" sz="1800"/>
              <a:t>Data Description</a:t>
            </a:r>
            <a:endParaRPr sz="1800"/>
          </a:p>
          <a:p>
            <a:pPr indent="-342900" lvl="0" marL="457200" rtl="0" algn="l">
              <a:lnSpc>
                <a:spcPct val="115000"/>
              </a:lnSpc>
              <a:spcBef>
                <a:spcPts val="0"/>
              </a:spcBef>
              <a:spcAft>
                <a:spcPts val="0"/>
              </a:spcAft>
              <a:buClr>
                <a:srgbClr val="000000"/>
              </a:buClr>
              <a:buSzPts val="1800"/>
              <a:buFont typeface="Arial"/>
              <a:buChar char="●"/>
            </a:pPr>
            <a:r>
              <a:rPr lang="en" sz="1800"/>
              <a:t>Data Cleaning &amp; Preparation</a:t>
            </a:r>
            <a:endParaRPr sz="1800"/>
          </a:p>
          <a:p>
            <a:pPr indent="-342900" lvl="0" marL="457200" rtl="0" algn="l">
              <a:lnSpc>
                <a:spcPct val="115000"/>
              </a:lnSpc>
              <a:spcBef>
                <a:spcPts val="0"/>
              </a:spcBef>
              <a:spcAft>
                <a:spcPts val="0"/>
              </a:spcAft>
              <a:buClr>
                <a:srgbClr val="7F7F7F"/>
              </a:buClr>
              <a:buSzPts val="1800"/>
              <a:buFont typeface="Source Sans Pro"/>
              <a:buChar char="●"/>
            </a:pPr>
            <a:r>
              <a:rPr lang="en" sz="1800"/>
              <a:t>Data Modeling</a:t>
            </a:r>
            <a:endParaRPr sz="1800"/>
          </a:p>
          <a:p>
            <a:pPr indent="-342900" lvl="0" marL="457200" rtl="0" algn="l">
              <a:lnSpc>
                <a:spcPct val="115000"/>
              </a:lnSpc>
              <a:spcBef>
                <a:spcPts val="0"/>
              </a:spcBef>
              <a:spcAft>
                <a:spcPts val="0"/>
              </a:spcAft>
              <a:buClr>
                <a:srgbClr val="000000"/>
              </a:buClr>
              <a:buSzPts val="1800"/>
              <a:buFont typeface="Arial"/>
              <a:buChar char="●"/>
            </a:pPr>
            <a:r>
              <a:rPr lang="en" sz="1800"/>
              <a:t>Key Metrics and Insights</a:t>
            </a:r>
            <a:endParaRPr sz="1800"/>
          </a:p>
          <a:p>
            <a:pPr indent="-342900" lvl="0" marL="457200" rtl="0" algn="l">
              <a:lnSpc>
                <a:spcPct val="115000"/>
              </a:lnSpc>
              <a:spcBef>
                <a:spcPts val="0"/>
              </a:spcBef>
              <a:spcAft>
                <a:spcPts val="0"/>
              </a:spcAft>
              <a:buClr>
                <a:srgbClr val="000000"/>
              </a:buClr>
              <a:buSzPts val="1800"/>
              <a:buFont typeface="Arial"/>
              <a:buChar char="●"/>
            </a:pPr>
            <a:r>
              <a:rPr lang="en" sz="1800"/>
              <a:t>Recommendations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nvSpPr>
        <p:spPr>
          <a:xfrm>
            <a:off x="311700" y="445025"/>
            <a:ext cx="8520600" cy="623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3000">
                <a:solidFill>
                  <a:srgbClr val="000000"/>
                </a:solidFill>
                <a:latin typeface="Raleway"/>
                <a:ea typeface="Raleway"/>
                <a:cs typeface="Raleway"/>
                <a:sym typeface="Raleway"/>
              </a:rPr>
              <a:t>Problem Statement</a:t>
            </a:r>
            <a:endParaRPr b="1" sz="3000">
              <a:solidFill>
                <a:srgbClr val="000000"/>
              </a:solidFill>
              <a:latin typeface="Raleway"/>
              <a:ea typeface="Raleway"/>
              <a:cs typeface="Raleway"/>
              <a:sym typeface="Raleway"/>
            </a:endParaRPr>
          </a:p>
        </p:txBody>
      </p:sp>
      <p:sp>
        <p:nvSpPr>
          <p:cNvPr id="72" name="Google Shape;72;p15"/>
          <p:cNvSpPr txBox="1"/>
          <p:nvPr/>
        </p:nvSpPr>
        <p:spPr>
          <a:xfrm>
            <a:off x="311700" y="1152475"/>
            <a:ext cx="8520600" cy="3372900"/>
          </a:xfrm>
          <a:prstGeom prst="rect">
            <a:avLst/>
          </a:prstGeom>
          <a:noFill/>
          <a:ln>
            <a:noFill/>
          </a:ln>
        </p:spPr>
        <p:txBody>
          <a:bodyPr anchorCtr="0" anchor="t" bIns="91425" lIns="91425" spcFirstLastPara="1" rIns="91425" wrap="square" tIns="91425">
            <a:normAutofit/>
          </a:bodyPr>
          <a:lstStyle/>
          <a:p>
            <a:pPr indent="0" lvl="0" marL="0" rtl="0" algn="just">
              <a:spcBef>
                <a:spcPts val="0"/>
              </a:spcBef>
              <a:spcAft>
                <a:spcPts val="0"/>
              </a:spcAft>
              <a:buClr>
                <a:schemeClr val="dk2"/>
              </a:buClr>
              <a:buSzPts val="1600"/>
              <a:buFont typeface="Arial"/>
              <a:buNone/>
            </a:pPr>
            <a:r>
              <a:rPr lang="en" sz="1600">
                <a:solidFill>
                  <a:schemeClr val="dk2"/>
                </a:solidFill>
                <a:latin typeface="Lato"/>
                <a:ea typeface="Lato"/>
                <a:cs typeface="Lato"/>
                <a:sym typeface="Lato"/>
              </a:rPr>
              <a:t>You are working as a business analyst at Amazon, a company currently performing well. The stakeholders wish to maintain this level of performance and seek improvement. For this purpose, they want to devise new strategies. You are part of a team exploring new ways to benefit customers, such as offering more discounts and Prime membership perks. Could you suggest additional methods to identify and reward customers and enhance their shopping experience?</a:t>
            </a:r>
            <a:endParaRPr sz="1800">
              <a:solidFill>
                <a:srgbClr val="000000"/>
              </a:solidFill>
            </a:endParaRPr>
          </a:p>
          <a:p>
            <a:pPr indent="0" lvl="0" marL="0" rtl="0" algn="l">
              <a:lnSpc>
                <a:spcPct val="115000"/>
              </a:lnSpc>
              <a:spcBef>
                <a:spcPts val="0"/>
              </a:spcBef>
              <a:spcAft>
                <a:spcPts val="0"/>
              </a:spcAft>
              <a:buNone/>
            </a:pPr>
            <a:r>
              <a:t/>
            </a:r>
            <a:endParaRPr sz="1800">
              <a:solidFill>
                <a:srgbClr val="000000"/>
              </a:solidFill>
            </a:endParaRPr>
          </a:p>
          <a:p>
            <a:pPr indent="0" lvl="0" marL="0" rtl="0" algn="l">
              <a:lnSpc>
                <a:spcPct val="114998"/>
              </a:lnSpc>
              <a:spcBef>
                <a:spcPts val="1200"/>
              </a:spcBef>
              <a:spcAft>
                <a:spcPts val="0"/>
              </a:spcAft>
              <a:buNone/>
            </a:pPr>
            <a:r>
              <a:t/>
            </a:r>
            <a:endParaRPr sz="1445"/>
          </a:p>
        </p:txBody>
      </p:sp>
      <p:pic>
        <p:nvPicPr>
          <p:cNvPr id="73" name="Google Shape;73;p15"/>
          <p:cNvPicPr preferRelativeResize="0"/>
          <p:nvPr/>
        </p:nvPicPr>
        <p:blipFill>
          <a:blip r:embed="rId3">
            <a:alphaModFix/>
          </a:blip>
          <a:stretch>
            <a:fillRect/>
          </a:stretch>
        </p:blipFill>
        <p:spPr>
          <a:xfrm>
            <a:off x="5911613" y="2532838"/>
            <a:ext cx="2143125" cy="2143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237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Description</a:t>
            </a:r>
            <a:endParaRPr/>
          </a:p>
        </p:txBody>
      </p:sp>
      <p:sp>
        <p:nvSpPr>
          <p:cNvPr id="79" name="Google Shape;79;p16"/>
          <p:cNvSpPr txBox="1"/>
          <p:nvPr>
            <p:ph idx="1" type="body"/>
          </p:nvPr>
        </p:nvSpPr>
        <p:spPr>
          <a:xfrm>
            <a:off x="311700" y="7572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2"/>
                </a:solidFill>
              </a:rPr>
              <a:t>Dataset consists of 2 Excel Worksheets named orders and customers, containing the following Attributes:</a:t>
            </a:r>
            <a:endParaRPr>
              <a:solidFill>
                <a:schemeClr val="dk2"/>
              </a:solidFill>
            </a:endParaRPr>
          </a:p>
        </p:txBody>
      </p:sp>
      <p:pic>
        <p:nvPicPr>
          <p:cNvPr id="80" name="Google Shape;80;p16"/>
          <p:cNvPicPr preferRelativeResize="0"/>
          <p:nvPr/>
        </p:nvPicPr>
        <p:blipFill>
          <a:blip r:embed="rId3">
            <a:alphaModFix/>
          </a:blip>
          <a:stretch>
            <a:fillRect/>
          </a:stretch>
        </p:blipFill>
        <p:spPr>
          <a:xfrm>
            <a:off x="311700" y="1544225"/>
            <a:ext cx="7228151" cy="3554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2560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Description (contd..)</a:t>
            </a:r>
            <a:endParaRPr/>
          </a:p>
        </p:txBody>
      </p:sp>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7"/>
          <p:cNvPicPr preferRelativeResize="0"/>
          <p:nvPr/>
        </p:nvPicPr>
        <p:blipFill>
          <a:blip r:embed="rId3">
            <a:alphaModFix/>
          </a:blip>
          <a:stretch>
            <a:fillRect/>
          </a:stretch>
        </p:blipFill>
        <p:spPr>
          <a:xfrm>
            <a:off x="227300" y="844900"/>
            <a:ext cx="7561650" cy="41426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nvSpPr>
        <p:spPr>
          <a:xfrm>
            <a:off x="311700" y="266150"/>
            <a:ext cx="8520600" cy="623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None/>
            </a:pPr>
            <a:r>
              <a:rPr b="1" lang="en" sz="2700">
                <a:solidFill>
                  <a:srgbClr val="000000"/>
                </a:solidFill>
                <a:latin typeface="Raleway"/>
                <a:ea typeface="Raleway"/>
                <a:cs typeface="Raleway"/>
                <a:sym typeface="Raleway"/>
              </a:rPr>
              <a:t>Data Cleaning </a:t>
            </a:r>
            <a:r>
              <a:rPr b="1" lang="en" sz="2700">
                <a:latin typeface="Raleway"/>
                <a:ea typeface="Raleway"/>
                <a:cs typeface="Raleway"/>
                <a:sym typeface="Raleway"/>
              </a:rPr>
              <a:t>&amp; Preparation</a:t>
            </a:r>
            <a:endParaRPr b="1" sz="2700">
              <a:solidFill>
                <a:srgbClr val="000000"/>
              </a:solidFill>
              <a:latin typeface="Raleway"/>
              <a:ea typeface="Raleway"/>
              <a:cs typeface="Raleway"/>
              <a:sym typeface="Raleway"/>
            </a:endParaRPr>
          </a:p>
        </p:txBody>
      </p:sp>
      <p:sp>
        <p:nvSpPr>
          <p:cNvPr id="93" name="Google Shape;93;p18"/>
          <p:cNvSpPr txBox="1"/>
          <p:nvPr/>
        </p:nvSpPr>
        <p:spPr>
          <a:xfrm>
            <a:off x="277100" y="766025"/>
            <a:ext cx="8520600" cy="3889800"/>
          </a:xfrm>
          <a:prstGeom prst="rect">
            <a:avLst/>
          </a:prstGeom>
          <a:noFill/>
          <a:ln>
            <a:noFill/>
          </a:ln>
        </p:spPr>
        <p:txBody>
          <a:bodyPr anchorCtr="0" anchor="t" bIns="91425" lIns="91425" spcFirstLastPara="1" rIns="91425" wrap="square" tIns="91425">
            <a:noAutofit/>
          </a:bodyPr>
          <a:lstStyle/>
          <a:p>
            <a:pPr indent="0" lvl="0" marL="0" rtl="0" algn="l">
              <a:lnSpc>
                <a:spcPct val="142857"/>
              </a:lnSpc>
              <a:spcBef>
                <a:spcPts val="0"/>
              </a:spcBef>
              <a:spcAft>
                <a:spcPts val="0"/>
              </a:spcAft>
              <a:buSzPts val="770"/>
              <a:buNone/>
            </a:pPr>
            <a:r>
              <a:t/>
            </a:r>
            <a:endParaRPr sz="1460"/>
          </a:p>
          <a:p>
            <a:pPr indent="-290195" lvl="0" marL="457200" rtl="0" algn="l">
              <a:lnSpc>
                <a:spcPct val="142857"/>
              </a:lnSpc>
              <a:spcBef>
                <a:spcPts val="0"/>
              </a:spcBef>
              <a:spcAft>
                <a:spcPts val="0"/>
              </a:spcAft>
              <a:buClr>
                <a:srgbClr val="000000"/>
              </a:buClr>
              <a:buSzPts val="970"/>
              <a:buFont typeface="Arial"/>
              <a:buChar char="●"/>
            </a:pPr>
            <a:r>
              <a:rPr b="1" lang="en" sz="1425">
                <a:latin typeface="Geist"/>
                <a:ea typeface="Geist"/>
                <a:cs typeface="Geist"/>
                <a:sym typeface="Geist"/>
              </a:rPr>
              <a:t>Why It Matters: </a:t>
            </a:r>
            <a:r>
              <a:rPr lang="en" sz="1425">
                <a:latin typeface="Geist"/>
                <a:ea typeface="Geist"/>
                <a:cs typeface="Geist"/>
                <a:sym typeface="Geist"/>
              </a:rPr>
              <a:t>Bad data = Bad insights (Garbage In, Garbage Out) Common Data Issues</a:t>
            </a:r>
            <a:endParaRPr sz="1425">
              <a:latin typeface="Geist"/>
              <a:ea typeface="Geist"/>
              <a:cs typeface="Geist"/>
              <a:sym typeface="Geist"/>
            </a:endParaRPr>
          </a:p>
          <a:p>
            <a:pPr indent="-290195" lvl="0" marL="457200" rtl="0" algn="l">
              <a:lnSpc>
                <a:spcPct val="95000"/>
              </a:lnSpc>
              <a:spcBef>
                <a:spcPts val="0"/>
              </a:spcBef>
              <a:spcAft>
                <a:spcPts val="0"/>
              </a:spcAft>
              <a:buClr>
                <a:srgbClr val="000000"/>
              </a:buClr>
              <a:buSzPts val="970"/>
              <a:buFont typeface="Arial"/>
              <a:buChar char="●"/>
            </a:pPr>
            <a:r>
              <a:rPr lang="en" sz="1460"/>
              <a:t>Performed missing value audit across Orders and Customers tables</a:t>
            </a:r>
            <a:br>
              <a:rPr lang="en" sz="1460"/>
            </a:br>
            <a:endParaRPr sz="1460"/>
          </a:p>
          <a:p>
            <a:pPr indent="-290195" lvl="0" marL="457200" rtl="0" algn="l">
              <a:lnSpc>
                <a:spcPct val="95000"/>
              </a:lnSpc>
              <a:spcBef>
                <a:spcPts val="0"/>
              </a:spcBef>
              <a:spcAft>
                <a:spcPts val="0"/>
              </a:spcAft>
              <a:buClr>
                <a:srgbClr val="000000"/>
              </a:buClr>
              <a:buSzPts val="970"/>
              <a:buFont typeface="Arial"/>
              <a:buChar char="●"/>
            </a:pPr>
            <a:r>
              <a:rPr lang="en" sz="1460"/>
              <a:t>Identified and corrected blank categorical values (e.g., Product Category mapping via Subcategory)</a:t>
            </a:r>
            <a:br>
              <a:rPr lang="en" sz="1460"/>
            </a:br>
            <a:endParaRPr sz="1460"/>
          </a:p>
          <a:p>
            <a:pPr indent="-290195" lvl="0" marL="457200" rtl="0" algn="l">
              <a:lnSpc>
                <a:spcPct val="95000"/>
              </a:lnSpc>
              <a:spcBef>
                <a:spcPts val="0"/>
              </a:spcBef>
              <a:spcAft>
                <a:spcPts val="0"/>
              </a:spcAft>
              <a:buClr>
                <a:srgbClr val="000000"/>
              </a:buClr>
              <a:buSzPts val="970"/>
              <a:buFont typeface="Arial"/>
              <a:buChar char="●"/>
            </a:pPr>
            <a:r>
              <a:rPr lang="en" sz="1460"/>
              <a:t>Standardized date formats and validated date consistency (OrderDate vs DeliveryDate)</a:t>
            </a:r>
            <a:br>
              <a:rPr lang="en" sz="1460"/>
            </a:br>
            <a:endParaRPr sz="1460"/>
          </a:p>
          <a:p>
            <a:pPr indent="-290195" lvl="0" marL="457200" rtl="0" algn="l">
              <a:lnSpc>
                <a:spcPct val="95000"/>
              </a:lnSpc>
              <a:spcBef>
                <a:spcPts val="0"/>
              </a:spcBef>
              <a:spcAft>
                <a:spcPts val="0"/>
              </a:spcAft>
              <a:buClr>
                <a:srgbClr val="000000"/>
              </a:buClr>
              <a:buSzPts val="970"/>
              <a:buFont typeface="Arial"/>
              <a:buChar char="●"/>
            </a:pPr>
            <a:r>
              <a:rPr lang="en" sz="1460"/>
              <a:t>Verified revenue calculation logic (UnitPrice × OrderQuantity + ShippingFee)</a:t>
            </a:r>
            <a:br>
              <a:rPr lang="en" sz="1460"/>
            </a:br>
            <a:endParaRPr sz="1460"/>
          </a:p>
          <a:p>
            <a:pPr indent="-290195" lvl="0" marL="457200" rtl="0" algn="l">
              <a:lnSpc>
                <a:spcPct val="95000"/>
              </a:lnSpc>
              <a:spcBef>
                <a:spcPts val="0"/>
              </a:spcBef>
              <a:spcAft>
                <a:spcPts val="0"/>
              </a:spcAft>
              <a:buClr>
                <a:srgbClr val="000000"/>
              </a:buClr>
              <a:buSzPts val="970"/>
              <a:buFont typeface="Arial"/>
              <a:buChar char="●"/>
            </a:pPr>
            <a:r>
              <a:rPr lang="en" sz="1460"/>
              <a:t>Conducted range validation for numeric fields (Price, Quantity, Rating)</a:t>
            </a:r>
            <a:br>
              <a:rPr lang="en" sz="1460"/>
            </a:br>
            <a:endParaRPr sz="1460"/>
          </a:p>
          <a:p>
            <a:pPr indent="-290195" lvl="0" marL="457200" rtl="0" algn="l">
              <a:lnSpc>
                <a:spcPct val="95000"/>
              </a:lnSpc>
              <a:spcBef>
                <a:spcPts val="0"/>
              </a:spcBef>
              <a:spcAft>
                <a:spcPts val="0"/>
              </a:spcAft>
              <a:buClr>
                <a:srgbClr val="000000"/>
              </a:buClr>
              <a:buSzPts val="970"/>
              <a:buFont typeface="Arial"/>
              <a:buChar char="●"/>
            </a:pPr>
            <a:r>
              <a:rPr lang="en" sz="1460"/>
              <a:t>Ensured referential integrity between Orders and Customers tables</a:t>
            </a:r>
            <a:br>
              <a:rPr lang="en" sz="1460"/>
            </a:br>
            <a:endParaRPr sz="1460"/>
          </a:p>
          <a:p>
            <a:pPr indent="0" lvl="0" marL="457200" rtl="0" algn="l">
              <a:lnSpc>
                <a:spcPct val="142857"/>
              </a:lnSpc>
              <a:spcBef>
                <a:spcPts val="1200"/>
              </a:spcBef>
              <a:spcAft>
                <a:spcPts val="0"/>
              </a:spcAft>
              <a:buSzPts val="770"/>
              <a:buNone/>
            </a:pPr>
            <a:r>
              <a:t/>
            </a:r>
            <a:endParaRPr sz="146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23257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Modeling</a:t>
            </a:r>
            <a:endParaRPr/>
          </a:p>
        </p:txBody>
      </p:sp>
      <p:sp>
        <p:nvSpPr>
          <p:cNvPr id="99" name="Google Shape;99;p19"/>
          <p:cNvSpPr txBox="1"/>
          <p:nvPr>
            <p:ph idx="1" type="body"/>
          </p:nvPr>
        </p:nvSpPr>
        <p:spPr>
          <a:xfrm>
            <a:off x="109100" y="801675"/>
            <a:ext cx="4772400" cy="3936600"/>
          </a:xfrm>
          <a:prstGeom prst="rect">
            <a:avLst/>
          </a:prstGeom>
        </p:spPr>
        <p:txBody>
          <a:bodyPr anchorCtr="0" anchor="t" bIns="91425" lIns="91425" spcFirstLastPara="1" rIns="91425" wrap="square" tIns="91425">
            <a:noAutofit/>
          </a:bodyPr>
          <a:lstStyle/>
          <a:p>
            <a:pPr indent="-283845" lvl="0" marL="457200" rtl="0" algn="l">
              <a:lnSpc>
                <a:spcPct val="105000"/>
              </a:lnSpc>
              <a:spcBef>
                <a:spcPts val="1200"/>
              </a:spcBef>
              <a:spcAft>
                <a:spcPts val="0"/>
              </a:spcAft>
              <a:buClr>
                <a:schemeClr val="dk2"/>
              </a:buClr>
              <a:buSzPts val="870"/>
              <a:buFont typeface="Arial"/>
              <a:buChar char="●"/>
            </a:pPr>
            <a:r>
              <a:rPr lang="en" sz="1360">
                <a:solidFill>
                  <a:schemeClr val="dk2"/>
                </a:solidFill>
                <a:latin typeface="Arial"/>
                <a:ea typeface="Arial"/>
                <a:cs typeface="Arial"/>
                <a:sym typeface="Arial"/>
              </a:rPr>
              <a:t>Created a dedicated Date Table for time intelligence analysis</a:t>
            </a:r>
            <a:endParaRPr sz="1360">
              <a:solidFill>
                <a:schemeClr val="dk2"/>
              </a:solidFill>
              <a:latin typeface="Arial"/>
              <a:ea typeface="Arial"/>
              <a:cs typeface="Arial"/>
              <a:sym typeface="Arial"/>
            </a:endParaRPr>
          </a:p>
          <a:p>
            <a:pPr indent="-283845" lvl="0" marL="457200" rtl="0" algn="l">
              <a:lnSpc>
                <a:spcPct val="105000"/>
              </a:lnSpc>
              <a:spcBef>
                <a:spcPts val="0"/>
              </a:spcBef>
              <a:spcAft>
                <a:spcPts val="0"/>
              </a:spcAft>
              <a:buClr>
                <a:schemeClr val="dk2"/>
              </a:buClr>
              <a:buSzPts val="870"/>
              <a:buFont typeface="Arial"/>
              <a:buChar char="●"/>
            </a:pPr>
            <a:r>
              <a:rPr lang="en" sz="1360">
                <a:solidFill>
                  <a:schemeClr val="dk2"/>
                </a:solidFill>
                <a:latin typeface="Arial"/>
                <a:ea typeface="Arial"/>
                <a:cs typeface="Arial"/>
                <a:sym typeface="Arial"/>
              </a:rPr>
              <a:t>Identified Primary Key and Foreign Keys &amp; Fact and Dimension Tables.</a:t>
            </a:r>
            <a:br>
              <a:rPr lang="en" sz="1360">
                <a:solidFill>
                  <a:schemeClr val="dk2"/>
                </a:solidFill>
                <a:latin typeface="Arial"/>
                <a:ea typeface="Arial"/>
                <a:cs typeface="Arial"/>
                <a:sym typeface="Arial"/>
              </a:rPr>
            </a:br>
            <a:endParaRPr sz="1360">
              <a:solidFill>
                <a:schemeClr val="dk2"/>
              </a:solidFill>
              <a:latin typeface="Arial"/>
              <a:ea typeface="Arial"/>
              <a:cs typeface="Arial"/>
              <a:sym typeface="Arial"/>
            </a:endParaRPr>
          </a:p>
          <a:p>
            <a:pPr indent="-283845" lvl="0" marL="457200" rtl="0" algn="l">
              <a:lnSpc>
                <a:spcPct val="105000"/>
              </a:lnSpc>
              <a:spcBef>
                <a:spcPts val="0"/>
              </a:spcBef>
              <a:spcAft>
                <a:spcPts val="0"/>
              </a:spcAft>
              <a:buClr>
                <a:schemeClr val="dk2"/>
              </a:buClr>
              <a:buSzPts val="870"/>
              <a:buFont typeface="Arial"/>
              <a:buChar char="●"/>
            </a:pPr>
            <a:r>
              <a:rPr lang="en" sz="1360">
                <a:solidFill>
                  <a:schemeClr val="dk2"/>
                </a:solidFill>
                <a:latin typeface="Arial"/>
                <a:ea typeface="Arial"/>
                <a:cs typeface="Arial"/>
                <a:sym typeface="Arial"/>
              </a:rPr>
              <a:t>Established relationships between Orders and Customers &amp; Calendar (both are one-to-many)</a:t>
            </a:r>
            <a:br>
              <a:rPr lang="en" sz="1360">
                <a:solidFill>
                  <a:schemeClr val="dk2"/>
                </a:solidFill>
                <a:latin typeface="Arial"/>
                <a:ea typeface="Arial"/>
                <a:cs typeface="Arial"/>
                <a:sym typeface="Arial"/>
              </a:rPr>
            </a:br>
            <a:endParaRPr sz="1360">
              <a:solidFill>
                <a:schemeClr val="dk2"/>
              </a:solidFill>
              <a:latin typeface="Arial"/>
              <a:ea typeface="Arial"/>
              <a:cs typeface="Arial"/>
              <a:sym typeface="Arial"/>
            </a:endParaRPr>
          </a:p>
          <a:p>
            <a:pPr indent="-283845" lvl="0" marL="457200" rtl="0" algn="l">
              <a:lnSpc>
                <a:spcPct val="105000"/>
              </a:lnSpc>
              <a:spcBef>
                <a:spcPts val="0"/>
              </a:spcBef>
              <a:spcAft>
                <a:spcPts val="0"/>
              </a:spcAft>
              <a:buClr>
                <a:schemeClr val="dk2"/>
              </a:buClr>
              <a:buSzPts val="870"/>
              <a:buFont typeface="Arial"/>
              <a:buChar char="●"/>
            </a:pPr>
            <a:r>
              <a:rPr lang="en" sz="1360">
                <a:solidFill>
                  <a:schemeClr val="dk2"/>
                </a:solidFill>
                <a:latin typeface="Arial"/>
                <a:ea typeface="Arial"/>
                <a:cs typeface="Arial"/>
                <a:sym typeface="Arial"/>
              </a:rPr>
              <a:t>Built calculated columns (Wait Time, Recency Days, Loyalty Segment)</a:t>
            </a:r>
            <a:br>
              <a:rPr lang="en" sz="1360">
                <a:solidFill>
                  <a:schemeClr val="dk2"/>
                </a:solidFill>
                <a:latin typeface="Arial"/>
                <a:ea typeface="Arial"/>
                <a:cs typeface="Arial"/>
                <a:sym typeface="Arial"/>
              </a:rPr>
            </a:br>
            <a:endParaRPr sz="1360">
              <a:solidFill>
                <a:schemeClr val="dk2"/>
              </a:solidFill>
              <a:latin typeface="Arial"/>
              <a:ea typeface="Arial"/>
              <a:cs typeface="Arial"/>
              <a:sym typeface="Arial"/>
            </a:endParaRPr>
          </a:p>
          <a:p>
            <a:pPr indent="-283845" lvl="0" marL="457200" rtl="0" algn="l">
              <a:lnSpc>
                <a:spcPct val="105000"/>
              </a:lnSpc>
              <a:spcBef>
                <a:spcPts val="0"/>
              </a:spcBef>
              <a:spcAft>
                <a:spcPts val="0"/>
              </a:spcAft>
              <a:buClr>
                <a:schemeClr val="dk2"/>
              </a:buClr>
              <a:buSzPts val="870"/>
              <a:buFont typeface="Arial"/>
              <a:buChar char="●"/>
            </a:pPr>
            <a:r>
              <a:rPr lang="en" sz="1360">
                <a:solidFill>
                  <a:schemeClr val="dk2"/>
                </a:solidFill>
                <a:latin typeface="Arial"/>
                <a:ea typeface="Arial"/>
                <a:cs typeface="Arial"/>
                <a:sym typeface="Arial"/>
              </a:rPr>
              <a:t>Developed DAX measures for Revenue, Rating, YoY Sales, and KPIs</a:t>
            </a:r>
            <a:br>
              <a:rPr lang="en" sz="1360">
                <a:solidFill>
                  <a:schemeClr val="dk2"/>
                </a:solidFill>
                <a:latin typeface="Arial"/>
                <a:ea typeface="Arial"/>
                <a:cs typeface="Arial"/>
                <a:sym typeface="Arial"/>
              </a:rPr>
            </a:br>
            <a:endParaRPr sz="1360">
              <a:solidFill>
                <a:schemeClr val="dk2"/>
              </a:solidFill>
              <a:latin typeface="Arial"/>
              <a:ea typeface="Arial"/>
              <a:cs typeface="Arial"/>
              <a:sym typeface="Arial"/>
            </a:endParaRPr>
          </a:p>
          <a:p>
            <a:pPr indent="-283845" lvl="0" marL="457200" rtl="0" algn="l">
              <a:lnSpc>
                <a:spcPct val="105000"/>
              </a:lnSpc>
              <a:spcBef>
                <a:spcPts val="0"/>
              </a:spcBef>
              <a:spcAft>
                <a:spcPts val="0"/>
              </a:spcAft>
              <a:buClr>
                <a:schemeClr val="dk2"/>
              </a:buClr>
              <a:buSzPts val="870"/>
              <a:buFont typeface="Arial"/>
              <a:buChar char="●"/>
            </a:pPr>
            <a:r>
              <a:rPr lang="en" sz="1360">
                <a:solidFill>
                  <a:schemeClr val="dk2"/>
                </a:solidFill>
                <a:latin typeface="Arial"/>
                <a:ea typeface="Arial"/>
                <a:cs typeface="Arial"/>
                <a:sym typeface="Arial"/>
              </a:rPr>
              <a:t>Optimized data model for interactive dashboard reporting</a:t>
            </a:r>
            <a:br>
              <a:rPr lang="en" sz="1360">
                <a:solidFill>
                  <a:schemeClr val="dk2"/>
                </a:solidFill>
              </a:rPr>
            </a:br>
            <a:endParaRPr sz="1360">
              <a:solidFill>
                <a:schemeClr val="dk2"/>
              </a:solidFill>
            </a:endParaRPr>
          </a:p>
          <a:p>
            <a:pPr indent="0" lvl="0" marL="0" rtl="0" algn="l">
              <a:lnSpc>
                <a:spcPct val="105000"/>
              </a:lnSpc>
              <a:spcBef>
                <a:spcPts val="1200"/>
              </a:spcBef>
              <a:spcAft>
                <a:spcPts val="1200"/>
              </a:spcAft>
              <a:buSzPts val="770"/>
              <a:buNone/>
            </a:pPr>
            <a:r>
              <a:t/>
            </a:r>
            <a:endParaRPr sz="1360">
              <a:solidFill>
                <a:schemeClr val="dk2"/>
              </a:solidFill>
            </a:endParaRPr>
          </a:p>
        </p:txBody>
      </p:sp>
      <p:pic>
        <p:nvPicPr>
          <p:cNvPr id="100" name="Google Shape;100;p19"/>
          <p:cNvPicPr preferRelativeResize="0"/>
          <p:nvPr/>
        </p:nvPicPr>
        <p:blipFill>
          <a:blip r:embed="rId3">
            <a:alphaModFix/>
          </a:blip>
          <a:stretch>
            <a:fillRect/>
          </a:stretch>
        </p:blipFill>
        <p:spPr>
          <a:xfrm>
            <a:off x="4940925" y="1112075"/>
            <a:ext cx="4125676" cy="2593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700">
                <a:latin typeface="Arial"/>
                <a:ea typeface="Arial"/>
                <a:cs typeface="Arial"/>
                <a:sym typeface="Arial"/>
              </a:rPr>
              <a:t>Overall Business Performance</a:t>
            </a:r>
            <a:endParaRPr sz="2700"/>
          </a:p>
        </p:txBody>
      </p:sp>
      <p:sp>
        <p:nvSpPr>
          <p:cNvPr id="106" name="Google Shape;106;p20"/>
          <p:cNvSpPr txBox="1"/>
          <p:nvPr>
            <p:ph idx="1" type="body"/>
          </p:nvPr>
        </p:nvSpPr>
        <p:spPr>
          <a:xfrm>
            <a:off x="203000" y="1162350"/>
            <a:ext cx="5138100" cy="3416400"/>
          </a:xfrm>
          <a:prstGeom prst="rect">
            <a:avLst/>
          </a:prstGeom>
        </p:spPr>
        <p:txBody>
          <a:bodyPr anchorCtr="0" anchor="t" bIns="91425" lIns="91425" spcFirstLastPara="1" rIns="91425" wrap="square" tIns="91425">
            <a:noAutofit/>
          </a:bodyPr>
          <a:lstStyle/>
          <a:p>
            <a:pPr indent="-283845" lvl="0" marL="457200" rtl="0" algn="l">
              <a:lnSpc>
                <a:spcPct val="95000"/>
              </a:lnSpc>
              <a:spcBef>
                <a:spcPts val="1200"/>
              </a:spcBef>
              <a:spcAft>
                <a:spcPts val="0"/>
              </a:spcAft>
              <a:buClr>
                <a:srgbClr val="000000"/>
              </a:buClr>
              <a:buSzPts val="870"/>
              <a:buFont typeface="Arial"/>
              <a:buChar char="●"/>
            </a:pPr>
            <a:r>
              <a:rPr lang="en" sz="1360">
                <a:solidFill>
                  <a:srgbClr val="000000"/>
                </a:solidFill>
                <a:latin typeface="Arial"/>
                <a:ea typeface="Arial"/>
                <a:cs typeface="Arial"/>
                <a:sym typeface="Arial"/>
              </a:rPr>
              <a:t>Business demonstrated stable revenue performance with a significant growth spike in 2020.</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Sales are distributed across 82K customers, indicating a broad customer base.</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Despite strong revenue, the average customer rating ~3, suggesting room for experience improvement.</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A 27% return rate highlights potential gaps in product satisfaction or expectation alignment.</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Overall performance is strong, but operational and customer-focused optimizations are required to sustain growth.</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1360">
              <a:solidFill>
                <a:srgbClr val="000000"/>
              </a:solidFill>
              <a:latin typeface="Arial"/>
              <a:ea typeface="Arial"/>
              <a:cs typeface="Arial"/>
              <a:sym typeface="Arial"/>
            </a:endParaRPr>
          </a:p>
        </p:txBody>
      </p:sp>
      <p:pic>
        <p:nvPicPr>
          <p:cNvPr id="107" name="Google Shape;107;p20"/>
          <p:cNvPicPr preferRelativeResize="0"/>
          <p:nvPr/>
        </p:nvPicPr>
        <p:blipFill rotWithShape="1">
          <a:blip r:embed="rId3">
            <a:alphaModFix/>
          </a:blip>
          <a:srcRect b="83911" l="1493" r="16479" t="1436"/>
          <a:stretch/>
        </p:blipFill>
        <p:spPr>
          <a:xfrm>
            <a:off x="5400500" y="1279700"/>
            <a:ext cx="3682500" cy="399551"/>
          </a:xfrm>
          <a:prstGeom prst="rect">
            <a:avLst/>
          </a:prstGeom>
          <a:noFill/>
          <a:ln>
            <a:noFill/>
          </a:ln>
        </p:spPr>
      </p:pic>
      <p:pic>
        <p:nvPicPr>
          <p:cNvPr id="108" name="Google Shape;108;p20"/>
          <p:cNvPicPr preferRelativeResize="0"/>
          <p:nvPr/>
        </p:nvPicPr>
        <p:blipFill>
          <a:blip r:embed="rId4">
            <a:alphaModFix/>
          </a:blip>
          <a:stretch>
            <a:fillRect/>
          </a:stretch>
        </p:blipFill>
        <p:spPr>
          <a:xfrm>
            <a:off x="5286875" y="1802551"/>
            <a:ext cx="3820849" cy="1987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idx="1" type="body"/>
          </p:nvPr>
        </p:nvSpPr>
        <p:spPr>
          <a:xfrm>
            <a:off x="138775" y="276675"/>
            <a:ext cx="4757700" cy="44172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t/>
            </a:r>
            <a:endParaRPr>
              <a:solidFill>
                <a:schemeClr val="dk2"/>
              </a:solidFill>
              <a:latin typeface="Arial"/>
              <a:ea typeface="Arial"/>
              <a:cs typeface="Arial"/>
              <a:sym typeface="Arial"/>
            </a:endParaRPr>
          </a:p>
          <a:p>
            <a:pPr indent="-282733" lvl="0" marL="457200" rtl="0" algn="l">
              <a:spcBef>
                <a:spcPts val="1200"/>
              </a:spcBef>
              <a:spcAft>
                <a:spcPts val="0"/>
              </a:spcAft>
              <a:buClr>
                <a:schemeClr val="dk2"/>
              </a:buClr>
              <a:buSzPct val="61111"/>
              <a:buFont typeface="Arial"/>
              <a:buChar char="●"/>
            </a:pPr>
            <a:r>
              <a:rPr lang="en">
                <a:solidFill>
                  <a:schemeClr val="dk2"/>
                </a:solidFill>
                <a:latin typeface="Arial"/>
                <a:ea typeface="Arial"/>
                <a:cs typeface="Arial"/>
                <a:sym typeface="Arial"/>
              </a:rPr>
              <a:t>Order volumes remain stable across months, while revenue fluctuations suggest variation in average order value.</a:t>
            </a:r>
            <a:br>
              <a:rPr lang="en">
                <a:solidFill>
                  <a:schemeClr val="dk2"/>
                </a:solidFill>
                <a:latin typeface="Arial"/>
                <a:ea typeface="Arial"/>
                <a:cs typeface="Arial"/>
                <a:sym typeface="Arial"/>
              </a:rPr>
            </a:br>
            <a:endParaRPr>
              <a:solidFill>
                <a:schemeClr val="dk2"/>
              </a:solidFill>
              <a:latin typeface="Arial"/>
              <a:ea typeface="Arial"/>
              <a:cs typeface="Arial"/>
              <a:sym typeface="Arial"/>
            </a:endParaRPr>
          </a:p>
          <a:p>
            <a:pPr indent="-282733" lvl="0" marL="457200" rtl="0" algn="l">
              <a:spcBef>
                <a:spcPts val="0"/>
              </a:spcBef>
              <a:spcAft>
                <a:spcPts val="0"/>
              </a:spcAft>
              <a:buClr>
                <a:schemeClr val="dk2"/>
              </a:buClr>
              <a:buSzPct val="61111"/>
              <a:buFont typeface="Arial"/>
              <a:buChar char="●"/>
            </a:pPr>
            <a:r>
              <a:rPr lang="en">
                <a:solidFill>
                  <a:schemeClr val="dk2"/>
                </a:solidFill>
                <a:latin typeface="Arial"/>
                <a:ea typeface="Arial"/>
                <a:cs typeface="Arial"/>
                <a:sym typeface="Arial"/>
              </a:rPr>
              <a:t>Zone 3 contributes ~43% of total revenue, indicating strong geographic concentration.</a:t>
            </a:r>
            <a:br>
              <a:rPr lang="en">
                <a:solidFill>
                  <a:schemeClr val="dk2"/>
                </a:solidFill>
                <a:latin typeface="Arial"/>
                <a:ea typeface="Arial"/>
                <a:cs typeface="Arial"/>
                <a:sym typeface="Arial"/>
              </a:rPr>
            </a:br>
            <a:endParaRPr>
              <a:solidFill>
                <a:schemeClr val="dk2"/>
              </a:solidFill>
              <a:latin typeface="Arial"/>
              <a:ea typeface="Arial"/>
              <a:cs typeface="Arial"/>
              <a:sym typeface="Arial"/>
            </a:endParaRPr>
          </a:p>
          <a:p>
            <a:pPr indent="-282733" lvl="0" marL="457200" rtl="0" algn="l">
              <a:spcBef>
                <a:spcPts val="0"/>
              </a:spcBef>
              <a:spcAft>
                <a:spcPts val="0"/>
              </a:spcAft>
              <a:buClr>
                <a:schemeClr val="dk2"/>
              </a:buClr>
              <a:buSzPct val="61111"/>
              <a:buFont typeface="Arial"/>
              <a:buChar char="●"/>
            </a:pPr>
            <a:r>
              <a:rPr lang="en">
                <a:solidFill>
                  <a:schemeClr val="dk2"/>
                </a:solidFill>
                <a:latin typeface="Arial"/>
                <a:ea typeface="Arial"/>
                <a:cs typeface="Arial"/>
                <a:sym typeface="Arial"/>
              </a:rPr>
              <a:t>Greater Accra and Ashanti lead regional revenue performance.</a:t>
            </a:r>
            <a:br>
              <a:rPr lang="en">
                <a:solidFill>
                  <a:schemeClr val="dk2"/>
                </a:solidFill>
                <a:latin typeface="Arial"/>
                <a:ea typeface="Arial"/>
                <a:cs typeface="Arial"/>
                <a:sym typeface="Arial"/>
              </a:rPr>
            </a:br>
            <a:endParaRPr>
              <a:solidFill>
                <a:schemeClr val="dk2"/>
              </a:solidFill>
              <a:latin typeface="Arial"/>
              <a:ea typeface="Arial"/>
              <a:cs typeface="Arial"/>
              <a:sym typeface="Arial"/>
            </a:endParaRPr>
          </a:p>
          <a:p>
            <a:pPr indent="-282733" lvl="0" marL="457200" rtl="0" algn="l">
              <a:spcBef>
                <a:spcPts val="0"/>
              </a:spcBef>
              <a:spcAft>
                <a:spcPts val="0"/>
              </a:spcAft>
              <a:buClr>
                <a:schemeClr val="dk2"/>
              </a:buClr>
              <a:buSzPct val="61111"/>
              <a:buFont typeface="Arial"/>
              <a:buChar char="●"/>
            </a:pPr>
            <a:r>
              <a:rPr lang="en">
                <a:solidFill>
                  <a:schemeClr val="dk2"/>
                </a:solidFill>
                <a:latin typeface="Arial"/>
                <a:ea typeface="Arial"/>
                <a:cs typeface="Arial"/>
                <a:sym typeface="Arial"/>
              </a:rPr>
              <a:t>Electronics and Phones &amp; Tablets drive the majority of overall sales.</a:t>
            </a:r>
            <a:br>
              <a:rPr lang="en">
                <a:solidFill>
                  <a:schemeClr val="dk2"/>
                </a:solidFill>
                <a:latin typeface="Arial"/>
                <a:ea typeface="Arial"/>
                <a:cs typeface="Arial"/>
                <a:sym typeface="Arial"/>
              </a:rPr>
            </a:br>
            <a:endParaRPr>
              <a:solidFill>
                <a:schemeClr val="dk2"/>
              </a:solidFill>
              <a:latin typeface="Arial"/>
              <a:ea typeface="Arial"/>
              <a:cs typeface="Arial"/>
              <a:sym typeface="Arial"/>
            </a:endParaRPr>
          </a:p>
          <a:p>
            <a:pPr indent="-282733" lvl="0" marL="457200" rtl="0" algn="l">
              <a:spcBef>
                <a:spcPts val="0"/>
              </a:spcBef>
              <a:spcAft>
                <a:spcPts val="0"/>
              </a:spcAft>
              <a:buClr>
                <a:schemeClr val="dk2"/>
              </a:buClr>
              <a:buSzPct val="61111"/>
              <a:buFont typeface="Arial"/>
              <a:buChar char="●"/>
            </a:pPr>
            <a:r>
              <a:rPr lang="en">
                <a:solidFill>
                  <a:schemeClr val="dk2"/>
                </a:solidFill>
                <a:latin typeface="Arial"/>
                <a:ea typeface="Arial"/>
                <a:cs typeface="Arial"/>
                <a:sym typeface="Arial"/>
              </a:rPr>
              <a:t>Revenue dips in June and September highlight seasonal campaign opportunities.</a:t>
            </a:r>
            <a:br>
              <a:rPr lang="en">
                <a:solidFill>
                  <a:schemeClr val="dk2"/>
                </a:solidFill>
                <a:latin typeface="Arial"/>
                <a:ea typeface="Arial"/>
                <a:cs typeface="Arial"/>
                <a:sym typeface="Arial"/>
              </a:rPr>
            </a:br>
            <a:endParaRPr>
              <a:solidFill>
                <a:schemeClr val="dk2"/>
              </a:solidFill>
              <a:latin typeface="Arial"/>
              <a:ea typeface="Arial"/>
              <a:cs typeface="Arial"/>
              <a:sym typeface="Arial"/>
            </a:endParaRPr>
          </a:p>
          <a:p>
            <a:pPr indent="0" lvl="0" marL="0" rtl="0" algn="l">
              <a:spcBef>
                <a:spcPts val="1200"/>
              </a:spcBef>
              <a:spcAft>
                <a:spcPts val="1200"/>
              </a:spcAft>
              <a:buNone/>
            </a:pPr>
            <a:r>
              <a:t/>
            </a:r>
            <a:endParaRPr>
              <a:solidFill>
                <a:schemeClr val="dk2"/>
              </a:solidFill>
              <a:latin typeface="Arial"/>
              <a:ea typeface="Arial"/>
              <a:cs typeface="Arial"/>
              <a:sym typeface="Arial"/>
            </a:endParaRPr>
          </a:p>
        </p:txBody>
      </p:sp>
      <p:pic>
        <p:nvPicPr>
          <p:cNvPr id="114" name="Google Shape;114;p21"/>
          <p:cNvPicPr preferRelativeResize="0"/>
          <p:nvPr/>
        </p:nvPicPr>
        <p:blipFill>
          <a:blip r:embed="rId3">
            <a:alphaModFix/>
          </a:blip>
          <a:stretch>
            <a:fillRect/>
          </a:stretch>
        </p:blipFill>
        <p:spPr>
          <a:xfrm>
            <a:off x="4819900" y="1096875"/>
            <a:ext cx="4241751" cy="2406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217750"/>
            <a:ext cx="8520600" cy="62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990"/>
              <a:buFont typeface="Arial"/>
              <a:buNone/>
            </a:pPr>
            <a:r>
              <a:rPr lang="en" sz="2700">
                <a:latin typeface="Arial"/>
                <a:ea typeface="Arial"/>
                <a:cs typeface="Arial"/>
                <a:sym typeface="Arial"/>
              </a:rPr>
              <a:t>Emerging Customer Experience Risks</a:t>
            </a:r>
            <a:endParaRPr sz="2700">
              <a:latin typeface="Arial"/>
              <a:ea typeface="Arial"/>
              <a:cs typeface="Arial"/>
              <a:sym typeface="Arial"/>
            </a:endParaRPr>
          </a:p>
          <a:p>
            <a:pPr indent="0" lvl="0" marL="0" rtl="0" algn="l">
              <a:spcBef>
                <a:spcPts val="1200"/>
              </a:spcBef>
              <a:spcAft>
                <a:spcPts val="0"/>
              </a:spcAft>
              <a:buSzPts val="990"/>
              <a:buNone/>
            </a:pPr>
            <a:r>
              <a:t/>
            </a:r>
            <a:endParaRPr sz="2700"/>
          </a:p>
        </p:txBody>
      </p:sp>
      <p:sp>
        <p:nvSpPr>
          <p:cNvPr id="120" name="Google Shape;120;p22"/>
          <p:cNvSpPr txBox="1"/>
          <p:nvPr>
            <p:ph idx="1" type="body"/>
          </p:nvPr>
        </p:nvSpPr>
        <p:spPr>
          <a:xfrm>
            <a:off x="311700" y="979525"/>
            <a:ext cx="4535400" cy="3813000"/>
          </a:xfrm>
          <a:prstGeom prst="rect">
            <a:avLst/>
          </a:prstGeom>
        </p:spPr>
        <p:txBody>
          <a:bodyPr anchorCtr="0" anchor="t" bIns="91425" lIns="91425" spcFirstLastPara="1" rIns="91425" wrap="square" tIns="91425">
            <a:noAutofit/>
          </a:bodyPr>
          <a:lstStyle/>
          <a:p>
            <a:pPr indent="-283845" lvl="0" marL="457200" rtl="0" algn="l">
              <a:lnSpc>
                <a:spcPct val="95000"/>
              </a:lnSpc>
              <a:spcBef>
                <a:spcPts val="1200"/>
              </a:spcBef>
              <a:spcAft>
                <a:spcPts val="0"/>
              </a:spcAft>
              <a:buClr>
                <a:srgbClr val="000000"/>
              </a:buClr>
              <a:buSzPts val="870"/>
              <a:buFont typeface="Arial"/>
              <a:buChar char="●"/>
            </a:pPr>
            <a:r>
              <a:rPr lang="en" sz="1360">
                <a:solidFill>
                  <a:srgbClr val="000000"/>
                </a:solidFill>
              </a:rPr>
              <a:t>Despite strong revenue growth, 27% of total orders are returned, indicating a significant post-purchase issue.</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chemeClr val="dk2"/>
                </a:solidFill>
              </a:rPr>
              <a:t>Return Reasons appear to be driven by product-level gaps, but Logistics(Delivery related) issues are also high</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rPr>
              <a:t>Return volumes show a noticeable spike in 2020, aligning with the revenue surge.</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chemeClr val="dk2"/>
                </a:solidFill>
              </a:rPr>
              <a:t>~</a:t>
            </a:r>
            <a:r>
              <a:rPr lang="en" sz="1360">
                <a:solidFill>
                  <a:schemeClr val="dk2"/>
                </a:solidFill>
              </a:rPr>
              <a:t>40% of orders fall under low ratings (1–2 stars), highlighting customer dissatisfaction concerns. </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chemeClr val="dk2"/>
                </a:solidFill>
              </a:rPr>
              <a:t>Average wait time remains relatively consistent across ratings, suggesting delivery speed is not the primary dissatisfaction driver.</a:t>
            </a:r>
            <a:endParaRPr sz="1360">
              <a:solidFill>
                <a:srgbClr val="000000"/>
              </a:solidFill>
            </a:endParaRPr>
          </a:p>
          <a:p>
            <a:pPr indent="0" lvl="0" marL="0" rtl="0" algn="l">
              <a:lnSpc>
                <a:spcPct val="95000"/>
              </a:lnSpc>
              <a:spcBef>
                <a:spcPts val="1200"/>
              </a:spcBef>
              <a:spcAft>
                <a:spcPts val="1200"/>
              </a:spcAft>
              <a:buSzPts val="770"/>
              <a:buNone/>
            </a:pPr>
            <a:r>
              <a:t/>
            </a:r>
            <a:endParaRPr sz="1360">
              <a:solidFill>
                <a:srgbClr val="000000"/>
              </a:solidFill>
            </a:endParaRPr>
          </a:p>
        </p:txBody>
      </p:sp>
      <p:pic>
        <p:nvPicPr>
          <p:cNvPr id="121" name="Google Shape;121;p22"/>
          <p:cNvPicPr preferRelativeResize="0"/>
          <p:nvPr/>
        </p:nvPicPr>
        <p:blipFill rotWithShape="1">
          <a:blip r:embed="rId3">
            <a:alphaModFix/>
          </a:blip>
          <a:srcRect b="78989" l="0" r="0" t="0"/>
          <a:stretch/>
        </p:blipFill>
        <p:spPr>
          <a:xfrm>
            <a:off x="4910675" y="934250"/>
            <a:ext cx="4016701" cy="711075"/>
          </a:xfrm>
          <a:prstGeom prst="rect">
            <a:avLst/>
          </a:prstGeom>
          <a:noFill/>
          <a:ln>
            <a:noFill/>
          </a:ln>
        </p:spPr>
      </p:pic>
      <p:pic>
        <p:nvPicPr>
          <p:cNvPr id="122" name="Google Shape;122;p22"/>
          <p:cNvPicPr preferRelativeResize="0"/>
          <p:nvPr/>
        </p:nvPicPr>
        <p:blipFill>
          <a:blip r:embed="rId4">
            <a:alphaModFix/>
          </a:blip>
          <a:stretch>
            <a:fillRect/>
          </a:stretch>
        </p:blipFill>
        <p:spPr>
          <a:xfrm>
            <a:off x="4910675" y="1763125"/>
            <a:ext cx="3810000" cy="2571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11700" y="217725"/>
            <a:ext cx="8520600" cy="62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990"/>
              <a:buFont typeface="Arial"/>
              <a:buNone/>
            </a:pPr>
            <a:r>
              <a:rPr lang="en" sz="2400">
                <a:latin typeface="Arial"/>
                <a:ea typeface="Arial"/>
                <a:cs typeface="Arial"/>
                <a:sym typeface="Arial"/>
              </a:rPr>
              <a:t>Quality &amp; Expectation Gaps Driving Returns</a:t>
            </a:r>
            <a:endParaRPr sz="2400">
              <a:latin typeface="Arial"/>
              <a:ea typeface="Arial"/>
              <a:cs typeface="Arial"/>
              <a:sym typeface="Arial"/>
            </a:endParaRPr>
          </a:p>
          <a:p>
            <a:pPr indent="0" lvl="0" marL="0" rtl="0" algn="l">
              <a:spcBef>
                <a:spcPts val="1200"/>
              </a:spcBef>
              <a:spcAft>
                <a:spcPts val="0"/>
              </a:spcAft>
              <a:buSzPts val="990"/>
              <a:buNone/>
            </a:pPr>
            <a:r>
              <a:t/>
            </a:r>
            <a:endParaRPr sz="2400"/>
          </a:p>
        </p:txBody>
      </p:sp>
      <p:sp>
        <p:nvSpPr>
          <p:cNvPr id="128" name="Google Shape;128;p23"/>
          <p:cNvSpPr txBox="1"/>
          <p:nvPr>
            <p:ph idx="1" type="body"/>
          </p:nvPr>
        </p:nvSpPr>
        <p:spPr>
          <a:xfrm>
            <a:off x="311700" y="910375"/>
            <a:ext cx="5039400" cy="3416400"/>
          </a:xfrm>
          <a:prstGeom prst="rect">
            <a:avLst/>
          </a:prstGeom>
        </p:spPr>
        <p:txBody>
          <a:bodyPr anchorCtr="0" anchor="t" bIns="91425" lIns="91425" spcFirstLastPara="1" rIns="91425" wrap="square" tIns="91425">
            <a:noAutofit/>
          </a:bodyPr>
          <a:lstStyle/>
          <a:p>
            <a:pPr indent="-283845" lvl="0" marL="457200" rtl="0" algn="l">
              <a:lnSpc>
                <a:spcPct val="95000"/>
              </a:lnSpc>
              <a:spcBef>
                <a:spcPts val="1200"/>
              </a:spcBef>
              <a:spcAft>
                <a:spcPts val="0"/>
              </a:spcAft>
              <a:buClr>
                <a:srgbClr val="000000"/>
              </a:buClr>
              <a:buSzPts val="870"/>
              <a:buFont typeface="Arial"/>
              <a:buChar char="●"/>
            </a:pPr>
            <a:r>
              <a:rPr lang="en" sz="1360">
                <a:solidFill>
                  <a:srgbClr val="000000"/>
                </a:solidFill>
                <a:latin typeface="Arial"/>
                <a:ea typeface="Arial"/>
                <a:cs typeface="Arial"/>
                <a:sym typeface="Arial"/>
              </a:rPr>
              <a:t>The top return reasons are quality defects, missing/wrong items, and product-description mismatch.</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Fashion and Health &amp; Beauty categories show the highest volume of returned products.</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High return volumes are not isolated incidents but spread across key product categories.</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Several high-revenue products operate with relatively low average ratings (~2.8), indicating a revenue–satisfaction gap.</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latin typeface="Arial"/>
                <a:ea typeface="Arial"/>
                <a:cs typeface="Arial"/>
                <a:sym typeface="Arial"/>
              </a:rPr>
              <a:t>The data suggests that product quality, listing accuracy, and expectation management are primary improvement areas.</a:t>
            </a:r>
            <a:br>
              <a:rPr lang="en" sz="1360">
                <a:solidFill>
                  <a:srgbClr val="000000"/>
                </a:solidFill>
                <a:latin typeface="Arial"/>
                <a:ea typeface="Arial"/>
                <a:cs typeface="Arial"/>
                <a:sym typeface="Arial"/>
              </a:rPr>
            </a:br>
            <a:endParaRPr sz="136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1360">
              <a:solidFill>
                <a:srgbClr val="000000"/>
              </a:solidFill>
              <a:latin typeface="Arial"/>
              <a:ea typeface="Arial"/>
              <a:cs typeface="Arial"/>
              <a:sym typeface="Arial"/>
            </a:endParaRPr>
          </a:p>
        </p:txBody>
      </p:sp>
      <p:pic>
        <p:nvPicPr>
          <p:cNvPr id="129" name="Google Shape;129;p23"/>
          <p:cNvPicPr preferRelativeResize="0"/>
          <p:nvPr/>
        </p:nvPicPr>
        <p:blipFill>
          <a:blip r:embed="rId3">
            <a:alphaModFix/>
          </a:blip>
          <a:stretch>
            <a:fillRect/>
          </a:stretch>
        </p:blipFill>
        <p:spPr>
          <a:xfrm>
            <a:off x="5459025" y="1102250"/>
            <a:ext cx="3488100" cy="2938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212800"/>
            <a:ext cx="8520600" cy="62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990"/>
              <a:buFont typeface="Arial"/>
              <a:buNone/>
            </a:pPr>
            <a:r>
              <a:rPr lang="en" sz="2100">
                <a:latin typeface="Arial"/>
                <a:ea typeface="Arial"/>
                <a:cs typeface="Arial"/>
                <a:sym typeface="Arial"/>
              </a:rPr>
              <a:t>Customer Segmentation Reveals Retention Opportunity</a:t>
            </a:r>
            <a:endParaRPr sz="2100">
              <a:latin typeface="Arial"/>
              <a:ea typeface="Arial"/>
              <a:cs typeface="Arial"/>
              <a:sym typeface="Arial"/>
            </a:endParaRPr>
          </a:p>
          <a:p>
            <a:pPr indent="0" lvl="0" marL="0" rtl="0" algn="l">
              <a:spcBef>
                <a:spcPts val="1200"/>
              </a:spcBef>
              <a:spcAft>
                <a:spcPts val="0"/>
              </a:spcAft>
              <a:buSzPts val="990"/>
              <a:buNone/>
            </a:pPr>
            <a:r>
              <a:t/>
            </a:r>
            <a:endParaRPr sz="2100"/>
          </a:p>
        </p:txBody>
      </p:sp>
      <p:sp>
        <p:nvSpPr>
          <p:cNvPr id="135" name="Google Shape;135;p24"/>
          <p:cNvSpPr txBox="1"/>
          <p:nvPr>
            <p:ph idx="1" type="body"/>
          </p:nvPr>
        </p:nvSpPr>
        <p:spPr>
          <a:xfrm>
            <a:off x="311700" y="954825"/>
            <a:ext cx="4619400" cy="3416400"/>
          </a:xfrm>
          <a:prstGeom prst="rect">
            <a:avLst/>
          </a:prstGeom>
        </p:spPr>
        <p:txBody>
          <a:bodyPr anchorCtr="0" anchor="t" bIns="91425" lIns="91425" spcFirstLastPara="1" rIns="91425" wrap="square" tIns="91425">
            <a:noAutofit/>
          </a:bodyPr>
          <a:lstStyle/>
          <a:p>
            <a:pPr indent="-284956" lvl="0" marL="457200" rtl="0" algn="l">
              <a:lnSpc>
                <a:spcPct val="105000"/>
              </a:lnSpc>
              <a:spcBef>
                <a:spcPts val="1200"/>
              </a:spcBef>
              <a:spcAft>
                <a:spcPts val="0"/>
              </a:spcAft>
              <a:buClr>
                <a:srgbClr val="000000"/>
              </a:buClr>
              <a:buSzPts val="888"/>
              <a:buFont typeface="Arial"/>
              <a:buChar char="●"/>
            </a:pPr>
            <a:r>
              <a:rPr lang="en" sz="1325">
                <a:solidFill>
                  <a:srgbClr val="000000"/>
                </a:solidFill>
                <a:latin typeface="Arial"/>
                <a:ea typeface="Arial"/>
                <a:cs typeface="Arial"/>
                <a:sym typeface="Arial"/>
              </a:rPr>
              <a:t>The customer base is dominated by Dormant customers (≈58K), forming the largest segment</a:t>
            </a:r>
            <a:br>
              <a:rPr lang="en" sz="1325">
                <a:solidFill>
                  <a:srgbClr val="000000"/>
                </a:solidFill>
                <a:latin typeface="Arial"/>
                <a:ea typeface="Arial"/>
                <a:cs typeface="Arial"/>
                <a:sym typeface="Arial"/>
              </a:rPr>
            </a:br>
            <a:endParaRPr sz="1325">
              <a:solidFill>
                <a:srgbClr val="000000"/>
              </a:solidFill>
              <a:latin typeface="Arial"/>
              <a:ea typeface="Arial"/>
              <a:cs typeface="Arial"/>
              <a:sym typeface="Arial"/>
            </a:endParaRPr>
          </a:p>
          <a:p>
            <a:pPr indent="-284956" lvl="0" marL="457200" rtl="0" algn="l">
              <a:lnSpc>
                <a:spcPct val="105000"/>
              </a:lnSpc>
              <a:spcBef>
                <a:spcPts val="0"/>
              </a:spcBef>
              <a:spcAft>
                <a:spcPts val="0"/>
              </a:spcAft>
              <a:buClr>
                <a:srgbClr val="000000"/>
              </a:buClr>
              <a:buSzPts val="888"/>
              <a:buFont typeface="Arial"/>
              <a:buChar char="●"/>
            </a:pPr>
            <a:r>
              <a:rPr lang="en" sz="1325">
                <a:solidFill>
                  <a:srgbClr val="000000"/>
                </a:solidFill>
                <a:latin typeface="Arial"/>
                <a:ea typeface="Arial"/>
                <a:cs typeface="Arial"/>
                <a:sym typeface="Arial"/>
              </a:rPr>
              <a:t>Dormant customers contribute ~48% of total revenue, indicating strong past value </a:t>
            </a:r>
            <a:br>
              <a:rPr lang="en" sz="1325">
                <a:solidFill>
                  <a:srgbClr val="000000"/>
                </a:solidFill>
                <a:latin typeface="Arial"/>
                <a:ea typeface="Arial"/>
                <a:cs typeface="Arial"/>
                <a:sym typeface="Arial"/>
              </a:rPr>
            </a:br>
            <a:endParaRPr sz="1325">
              <a:solidFill>
                <a:srgbClr val="000000"/>
              </a:solidFill>
              <a:latin typeface="Arial"/>
              <a:ea typeface="Arial"/>
              <a:cs typeface="Arial"/>
              <a:sym typeface="Arial"/>
            </a:endParaRPr>
          </a:p>
          <a:p>
            <a:pPr indent="-284956" lvl="0" marL="457200" rtl="0" algn="l">
              <a:lnSpc>
                <a:spcPct val="105000"/>
              </a:lnSpc>
              <a:spcBef>
                <a:spcPts val="0"/>
              </a:spcBef>
              <a:spcAft>
                <a:spcPts val="0"/>
              </a:spcAft>
              <a:buClr>
                <a:srgbClr val="000000"/>
              </a:buClr>
              <a:buSzPts val="888"/>
              <a:buFont typeface="Arial"/>
              <a:buChar char="●"/>
            </a:pPr>
            <a:r>
              <a:rPr lang="en" sz="1325">
                <a:solidFill>
                  <a:srgbClr val="000000"/>
                </a:solidFill>
                <a:latin typeface="Arial"/>
                <a:ea typeface="Arial"/>
                <a:cs typeface="Arial"/>
                <a:sym typeface="Arial"/>
              </a:rPr>
              <a:t>Segments such as Platinum and Retain-Priority customers contribute significant revenue with lower customer volume.</a:t>
            </a:r>
            <a:br>
              <a:rPr lang="en" sz="1325">
                <a:solidFill>
                  <a:srgbClr val="000000"/>
                </a:solidFill>
                <a:latin typeface="Arial"/>
                <a:ea typeface="Arial"/>
                <a:cs typeface="Arial"/>
                <a:sym typeface="Arial"/>
              </a:rPr>
            </a:br>
            <a:endParaRPr sz="1325">
              <a:solidFill>
                <a:srgbClr val="000000"/>
              </a:solidFill>
              <a:latin typeface="Arial"/>
              <a:ea typeface="Arial"/>
              <a:cs typeface="Arial"/>
              <a:sym typeface="Arial"/>
            </a:endParaRPr>
          </a:p>
          <a:p>
            <a:pPr indent="-284956" lvl="0" marL="457200" rtl="0" algn="l">
              <a:lnSpc>
                <a:spcPct val="105000"/>
              </a:lnSpc>
              <a:spcBef>
                <a:spcPts val="0"/>
              </a:spcBef>
              <a:spcAft>
                <a:spcPts val="0"/>
              </a:spcAft>
              <a:buClr>
                <a:srgbClr val="000000"/>
              </a:buClr>
              <a:buSzPts val="888"/>
              <a:buFont typeface="Arial"/>
              <a:buChar char="●"/>
            </a:pPr>
            <a:r>
              <a:rPr lang="en" sz="1325">
                <a:solidFill>
                  <a:srgbClr val="000000"/>
                </a:solidFill>
                <a:latin typeface="Arial"/>
                <a:ea typeface="Arial"/>
                <a:cs typeface="Arial"/>
                <a:sym typeface="Arial"/>
              </a:rPr>
              <a:t>Win-Back High-Value customers represent a strategic opportunity for targeted reactivation campaigns.</a:t>
            </a:r>
            <a:br>
              <a:rPr lang="en" sz="1325">
                <a:solidFill>
                  <a:srgbClr val="000000"/>
                </a:solidFill>
                <a:latin typeface="Arial"/>
                <a:ea typeface="Arial"/>
                <a:cs typeface="Arial"/>
                <a:sym typeface="Arial"/>
              </a:rPr>
            </a:br>
            <a:endParaRPr sz="1325">
              <a:solidFill>
                <a:srgbClr val="000000"/>
              </a:solidFill>
              <a:latin typeface="Arial"/>
              <a:ea typeface="Arial"/>
              <a:cs typeface="Arial"/>
              <a:sym typeface="Arial"/>
            </a:endParaRPr>
          </a:p>
          <a:p>
            <a:pPr indent="-284956" lvl="0" marL="457200" rtl="0" algn="l">
              <a:lnSpc>
                <a:spcPct val="105000"/>
              </a:lnSpc>
              <a:spcBef>
                <a:spcPts val="0"/>
              </a:spcBef>
              <a:spcAft>
                <a:spcPts val="0"/>
              </a:spcAft>
              <a:buClr>
                <a:srgbClr val="000000"/>
              </a:buClr>
              <a:buSzPts val="888"/>
              <a:buFont typeface="Arial"/>
              <a:buChar char="●"/>
            </a:pPr>
            <a:r>
              <a:rPr lang="en" sz="1325">
                <a:solidFill>
                  <a:srgbClr val="000000"/>
                </a:solidFill>
                <a:latin typeface="Arial"/>
                <a:ea typeface="Arial"/>
                <a:cs typeface="Arial"/>
                <a:sym typeface="Arial"/>
              </a:rPr>
              <a:t>The data indicates that retention and re-engagement strategies may yield stronger returns than pure customer acquisition.</a:t>
            </a:r>
            <a:br>
              <a:rPr lang="en" sz="1325">
                <a:solidFill>
                  <a:srgbClr val="000000"/>
                </a:solidFill>
                <a:latin typeface="Arial"/>
                <a:ea typeface="Arial"/>
                <a:cs typeface="Arial"/>
                <a:sym typeface="Arial"/>
              </a:rPr>
            </a:br>
            <a:endParaRPr sz="1325">
              <a:solidFill>
                <a:srgbClr val="000000"/>
              </a:solidFill>
              <a:latin typeface="Arial"/>
              <a:ea typeface="Arial"/>
              <a:cs typeface="Arial"/>
              <a:sym typeface="Arial"/>
            </a:endParaRPr>
          </a:p>
          <a:p>
            <a:pPr indent="0" lvl="0" marL="0" rtl="0" algn="l">
              <a:lnSpc>
                <a:spcPct val="105000"/>
              </a:lnSpc>
              <a:spcBef>
                <a:spcPts val="1200"/>
              </a:spcBef>
              <a:spcAft>
                <a:spcPts val="1200"/>
              </a:spcAft>
              <a:buSzPts val="688"/>
              <a:buNone/>
            </a:pPr>
            <a:r>
              <a:t/>
            </a:r>
            <a:endParaRPr sz="1325">
              <a:solidFill>
                <a:srgbClr val="000000"/>
              </a:solidFill>
              <a:latin typeface="Arial"/>
              <a:ea typeface="Arial"/>
              <a:cs typeface="Arial"/>
              <a:sym typeface="Arial"/>
            </a:endParaRPr>
          </a:p>
        </p:txBody>
      </p:sp>
      <p:pic>
        <p:nvPicPr>
          <p:cNvPr id="136" name="Google Shape;136;p24"/>
          <p:cNvPicPr preferRelativeResize="0"/>
          <p:nvPr/>
        </p:nvPicPr>
        <p:blipFill rotWithShape="1">
          <a:blip r:embed="rId3">
            <a:alphaModFix/>
          </a:blip>
          <a:srcRect b="0" l="-489" r="4603" t="0"/>
          <a:stretch/>
        </p:blipFill>
        <p:spPr>
          <a:xfrm>
            <a:off x="4861875" y="1278700"/>
            <a:ext cx="4155300" cy="2714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222700"/>
            <a:ext cx="8520600" cy="623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990"/>
              <a:buFont typeface="Arial"/>
              <a:buNone/>
            </a:pPr>
            <a:r>
              <a:rPr lang="en" sz="2400">
                <a:latin typeface="Arial"/>
                <a:ea typeface="Arial"/>
                <a:cs typeface="Arial"/>
                <a:sym typeface="Arial"/>
              </a:rPr>
              <a:t>Strategy to Enhance Loyalty &amp; Customer Experience</a:t>
            </a:r>
            <a:endParaRPr sz="2400">
              <a:latin typeface="Arial"/>
              <a:ea typeface="Arial"/>
              <a:cs typeface="Arial"/>
              <a:sym typeface="Arial"/>
            </a:endParaRPr>
          </a:p>
          <a:p>
            <a:pPr indent="0" lvl="0" marL="0" rtl="0" algn="l">
              <a:spcBef>
                <a:spcPts val="1200"/>
              </a:spcBef>
              <a:spcAft>
                <a:spcPts val="0"/>
              </a:spcAft>
              <a:buSzPts val="990"/>
              <a:buNone/>
            </a:pPr>
            <a:r>
              <a:t/>
            </a:r>
            <a:endParaRPr sz="2400"/>
          </a:p>
        </p:txBody>
      </p:sp>
      <p:sp>
        <p:nvSpPr>
          <p:cNvPr id="142" name="Google Shape;142;p25"/>
          <p:cNvSpPr txBox="1"/>
          <p:nvPr>
            <p:ph idx="1" type="body"/>
          </p:nvPr>
        </p:nvSpPr>
        <p:spPr>
          <a:xfrm>
            <a:off x="311700" y="863550"/>
            <a:ext cx="4698300" cy="3820500"/>
          </a:xfrm>
          <a:prstGeom prst="rect">
            <a:avLst/>
          </a:prstGeom>
        </p:spPr>
        <p:txBody>
          <a:bodyPr anchorCtr="0" anchor="t" bIns="91425" lIns="91425" spcFirstLastPara="1" rIns="91425" wrap="square" tIns="91425">
            <a:noAutofit/>
          </a:bodyPr>
          <a:lstStyle/>
          <a:p>
            <a:pPr indent="-286067" lvl="0" marL="457200" rtl="0" algn="l">
              <a:lnSpc>
                <a:spcPct val="105000"/>
              </a:lnSpc>
              <a:spcBef>
                <a:spcPts val="1200"/>
              </a:spcBef>
              <a:spcAft>
                <a:spcPts val="0"/>
              </a:spcAft>
              <a:buClr>
                <a:srgbClr val="000000"/>
              </a:buClr>
              <a:buSzPts val="905"/>
              <a:buFont typeface="Arial"/>
              <a:buChar char="●"/>
            </a:pPr>
            <a:r>
              <a:rPr lang="en" sz="1290">
                <a:solidFill>
                  <a:srgbClr val="000000"/>
                </a:solidFill>
              </a:rPr>
              <a:t>Targeted win-back campaigns for Dormant customers through personalized offers and re-engagement incentives.</a:t>
            </a:r>
            <a:br>
              <a:rPr lang="en" sz="1290">
                <a:solidFill>
                  <a:srgbClr val="000000"/>
                </a:solidFill>
              </a:rPr>
            </a:br>
            <a:endParaRPr sz="1290">
              <a:solidFill>
                <a:srgbClr val="000000"/>
              </a:solidFill>
            </a:endParaRPr>
          </a:p>
          <a:p>
            <a:pPr indent="-286067" lvl="0" marL="457200" rtl="0" algn="l">
              <a:lnSpc>
                <a:spcPct val="105000"/>
              </a:lnSpc>
              <a:spcBef>
                <a:spcPts val="0"/>
              </a:spcBef>
              <a:spcAft>
                <a:spcPts val="0"/>
              </a:spcAft>
              <a:buClr>
                <a:srgbClr val="000000"/>
              </a:buClr>
              <a:buSzPts val="905"/>
              <a:buFont typeface="Arial"/>
              <a:buChar char="●"/>
            </a:pPr>
            <a:r>
              <a:rPr lang="en" sz="1290">
                <a:solidFill>
                  <a:srgbClr val="000000"/>
                </a:solidFill>
              </a:rPr>
              <a:t>Tier-based loyalty benefits to reward high-value and consistent customers.</a:t>
            </a:r>
            <a:br>
              <a:rPr lang="en" sz="1290">
                <a:solidFill>
                  <a:srgbClr val="000000"/>
                </a:solidFill>
              </a:rPr>
            </a:br>
            <a:endParaRPr sz="1290">
              <a:solidFill>
                <a:srgbClr val="000000"/>
              </a:solidFill>
            </a:endParaRPr>
          </a:p>
          <a:p>
            <a:pPr indent="-286067" lvl="0" marL="457200" rtl="0" algn="l">
              <a:lnSpc>
                <a:spcPct val="105000"/>
              </a:lnSpc>
              <a:spcBef>
                <a:spcPts val="0"/>
              </a:spcBef>
              <a:spcAft>
                <a:spcPts val="0"/>
              </a:spcAft>
              <a:buClr>
                <a:srgbClr val="000000"/>
              </a:buClr>
              <a:buSzPts val="905"/>
              <a:buFont typeface="Arial"/>
              <a:buChar char="●"/>
            </a:pPr>
            <a:r>
              <a:rPr lang="en" sz="1290">
                <a:solidFill>
                  <a:srgbClr val="000000"/>
                </a:solidFill>
              </a:rPr>
              <a:t>Strengthen quality control to reduce returns and low ratings in key categories.</a:t>
            </a:r>
            <a:br>
              <a:rPr lang="en" sz="1290">
                <a:solidFill>
                  <a:srgbClr val="000000"/>
                </a:solidFill>
              </a:rPr>
            </a:br>
            <a:endParaRPr sz="1290">
              <a:solidFill>
                <a:srgbClr val="000000"/>
              </a:solidFill>
            </a:endParaRPr>
          </a:p>
          <a:p>
            <a:pPr indent="-286067" lvl="0" marL="457200" rtl="0" algn="l">
              <a:lnSpc>
                <a:spcPct val="105000"/>
              </a:lnSpc>
              <a:spcBef>
                <a:spcPts val="0"/>
              </a:spcBef>
              <a:spcAft>
                <a:spcPts val="0"/>
              </a:spcAft>
              <a:buClr>
                <a:srgbClr val="000000"/>
              </a:buClr>
              <a:buSzPts val="905"/>
              <a:buFont typeface="Arial"/>
              <a:buChar char="●"/>
            </a:pPr>
            <a:r>
              <a:rPr lang="en" sz="1290">
                <a:solidFill>
                  <a:srgbClr val="000000"/>
                </a:solidFill>
              </a:rPr>
              <a:t>Seasonal promotional campaigns during June and September to stabilize mid-year revenue dips.</a:t>
            </a:r>
            <a:br>
              <a:rPr lang="en" sz="1290">
                <a:solidFill>
                  <a:srgbClr val="000000"/>
                </a:solidFill>
              </a:rPr>
            </a:br>
            <a:endParaRPr sz="1290">
              <a:solidFill>
                <a:srgbClr val="000000"/>
              </a:solidFill>
            </a:endParaRPr>
          </a:p>
          <a:p>
            <a:pPr indent="-286067" lvl="0" marL="457200" rtl="0" algn="l">
              <a:lnSpc>
                <a:spcPct val="105000"/>
              </a:lnSpc>
              <a:spcBef>
                <a:spcPts val="0"/>
              </a:spcBef>
              <a:spcAft>
                <a:spcPts val="0"/>
              </a:spcAft>
              <a:buClr>
                <a:srgbClr val="000000"/>
              </a:buClr>
              <a:buSzPts val="905"/>
              <a:buFont typeface="Arial"/>
              <a:buChar char="●"/>
            </a:pPr>
            <a:r>
              <a:rPr lang="en" sz="1290">
                <a:solidFill>
                  <a:srgbClr val="000000"/>
                </a:solidFill>
              </a:rPr>
              <a:t>Optimize high-performing zones and regions with premium perks while diversifying growth in lower-contribution areas.</a:t>
            </a:r>
            <a:br>
              <a:rPr lang="en" sz="1290">
                <a:solidFill>
                  <a:srgbClr val="000000"/>
                </a:solidFill>
              </a:rPr>
            </a:br>
            <a:endParaRPr sz="1290">
              <a:solidFill>
                <a:srgbClr val="000000"/>
              </a:solidFill>
            </a:endParaRPr>
          </a:p>
          <a:p>
            <a:pPr indent="-286067" lvl="0" marL="457200" rtl="0" algn="l">
              <a:lnSpc>
                <a:spcPct val="105000"/>
              </a:lnSpc>
              <a:spcBef>
                <a:spcPts val="0"/>
              </a:spcBef>
              <a:spcAft>
                <a:spcPts val="0"/>
              </a:spcAft>
              <a:buClr>
                <a:srgbClr val="000000"/>
              </a:buClr>
              <a:buSzPts val="905"/>
              <a:buFont typeface="Arial"/>
              <a:buChar char="●"/>
            </a:pPr>
            <a:r>
              <a:rPr lang="en" sz="1290">
                <a:solidFill>
                  <a:srgbClr val="000000"/>
                </a:solidFill>
              </a:rPr>
              <a:t>Monitor return reasons and rating patterns to proactively address product-level experience gaps.</a:t>
            </a:r>
            <a:br>
              <a:rPr lang="en" sz="1290">
                <a:solidFill>
                  <a:srgbClr val="000000"/>
                </a:solidFill>
              </a:rPr>
            </a:br>
            <a:endParaRPr sz="1290">
              <a:solidFill>
                <a:srgbClr val="000000"/>
              </a:solidFill>
            </a:endParaRPr>
          </a:p>
          <a:p>
            <a:pPr indent="0" lvl="0" marL="0" rtl="0" algn="l">
              <a:lnSpc>
                <a:spcPct val="105000"/>
              </a:lnSpc>
              <a:spcBef>
                <a:spcPts val="1200"/>
              </a:spcBef>
              <a:spcAft>
                <a:spcPts val="1200"/>
              </a:spcAft>
              <a:buSzPts val="605"/>
              <a:buNone/>
            </a:pPr>
            <a:r>
              <a:t/>
            </a:r>
            <a:endParaRPr sz="1290">
              <a:solidFill>
                <a:srgbClr val="000000"/>
              </a:solidFill>
            </a:endParaRPr>
          </a:p>
        </p:txBody>
      </p:sp>
      <p:pic>
        <p:nvPicPr>
          <p:cNvPr id="143" name="Google Shape;143;p25"/>
          <p:cNvPicPr preferRelativeResize="0"/>
          <p:nvPr/>
        </p:nvPicPr>
        <p:blipFill>
          <a:blip r:embed="rId3">
            <a:alphaModFix/>
          </a:blip>
          <a:stretch>
            <a:fillRect/>
          </a:stretch>
        </p:blipFill>
        <p:spPr>
          <a:xfrm>
            <a:off x="5054575" y="1220825"/>
            <a:ext cx="3937026" cy="235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1683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Recommendations:</a:t>
            </a:r>
            <a:endParaRPr/>
          </a:p>
        </p:txBody>
      </p:sp>
      <p:sp>
        <p:nvSpPr>
          <p:cNvPr id="149" name="Google Shape;149;p26"/>
          <p:cNvSpPr txBox="1"/>
          <p:nvPr>
            <p:ph idx="1" type="body"/>
          </p:nvPr>
        </p:nvSpPr>
        <p:spPr>
          <a:xfrm>
            <a:off x="311700" y="874525"/>
            <a:ext cx="7603800" cy="3837600"/>
          </a:xfrm>
          <a:prstGeom prst="rect">
            <a:avLst/>
          </a:prstGeom>
        </p:spPr>
        <p:txBody>
          <a:bodyPr anchorCtr="0" anchor="t" bIns="91425" lIns="91425" spcFirstLastPara="1" rIns="91425" wrap="square" tIns="91425">
            <a:noAutofit/>
          </a:bodyPr>
          <a:lstStyle/>
          <a:p>
            <a:pPr indent="-283845" lvl="0" marL="457200" rtl="0" algn="l">
              <a:lnSpc>
                <a:spcPct val="95000"/>
              </a:lnSpc>
              <a:spcBef>
                <a:spcPts val="1200"/>
              </a:spcBef>
              <a:spcAft>
                <a:spcPts val="0"/>
              </a:spcAft>
              <a:buClr>
                <a:srgbClr val="000000"/>
              </a:buClr>
              <a:buSzPts val="870"/>
              <a:buFont typeface="Arial"/>
              <a:buChar char="●"/>
            </a:pPr>
            <a:r>
              <a:rPr lang="en" sz="1360">
                <a:solidFill>
                  <a:srgbClr val="000000"/>
                </a:solidFill>
              </a:rPr>
              <a:t>Strengthen product quality control and listing accuracy in high-return categories.</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rPr>
              <a:t>S</a:t>
            </a:r>
            <a:r>
              <a:rPr lang="en" sz="1360">
                <a:solidFill>
                  <a:srgbClr val="000000"/>
                </a:solidFill>
              </a:rPr>
              <a:t>tructured tier-based loyalty program to reward Platinum, Gold, and Retain-Priority customers with exclusive benefits and early access perks.</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rPr>
              <a:t>Targeted win-back campaigns for Dormant and high-value inactive customers using personalized offers and limited-time incentives.</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rPr>
              <a:t>Category-specific improvement initiatives in Fashion and Health &amp; Beauty to address return drivers such as defects and expectation mismatch.</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rPr>
              <a:t>Deploy seasonal promotional campaigns in low-performing months (June and September) to stabilize revenue volatility.</a:t>
            </a:r>
            <a:br>
              <a:rPr lang="en" sz="1360">
                <a:solidFill>
                  <a:srgbClr val="000000"/>
                </a:solidFill>
              </a:rPr>
            </a:br>
            <a:endParaRPr sz="1360">
              <a:solidFill>
                <a:srgbClr val="000000"/>
              </a:solidFill>
            </a:endParaRPr>
          </a:p>
          <a:p>
            <a:pPr indent="-283845" lvl="0" marL="457200" rtl="0" algn="l">
              <a:lnSpc>
                <a:spcPct val="95000"/>
              </a:lnSpc>
              <a:spcBef>
                <a:spcPts val="0"/>
              </a:spcBef>
              <a:spcAft>
                <a:spcPts val="0"/>
              </a:spcAft>
              <a:buClr>
                <a:srgbClr val="000000"/>
              </a:buClr>
              <a:buSzPts val="870"/>
              <a:buFont typeface="Arial"/>
              <a:buChar char="●"/>
            </a:pPr>
            <a:r>
              <a:rPr lang="en" sz="1360">
                <a:solidFill>
                  <a:srgbClr val="000000"/>
                </a:solidFill>
              </a:rPr>
              <a:t>Diversify regional growth by expanding marketing efforts beyond high-concentration zones while protecting high-performing locations.</a:t>
            </a:r>
            <a:br>
              <a:rPr lang="en" sz="1360">
                <a:solidFill>
                  <a:srgbClr val="000000"/>
                </a:solidFill>
              </a:rPr>
            </a:br>
            <a:endParaRPr sz="1360">
              <a:solidFill>
                <a:srgbClr val="000000"/>
              </a:solidFill>
            </a:endParaRPr>
          </a:p>
          <a:p>
            <a:pPr indent="0" lvl="0" marL="0" rtl="0" algn="l">
              <a:lnSpc>
                <a:spcPct val="95000"/>
              </a:lnSpc>
              <a:spcBef>
                <a:spcPts val="1200"/>
              </a:spcBef>
              <a:spcAft>
                <a:spcPts val="1200"/>
              </a:spcAft>
              <a:buSzPts val="770"/>
              <a:buNone/>
            </a:pPr>
            <a:r>
              <a:t/>
            </a:r>
            <a:endParaRPr sz="136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311700" y="10367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Report- Main Tab</a:t>
            </a:r>
            <a:endParaRPr/>
          </a:p>
        </p:txBody>
      </p:sp>
      <p:pic>
        <p:nvPicPr>
          <p:cNvPr id="155" name="Google Shape;155;p27"/>
          <p:cNvPicPr preferRelativeResize="0"/>
          <p:nvPr/>
        </p:nvPicPr>
        <p:blipFill>
          <a:blip r:embed="rId3">
            <a:alphaModFix/>
          </a:blip>
          <a:stretch>
            <a:fillRect/>
          </a:stretch>
        </p:blipFill>
        <p:spPr>
          <a:xfrm>
            <a:off x="936463" y="727075"/>
            <a:ext cx="7271076" cy="4416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10367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Report- Product Tab</a:t>
            </a:r>
            <a:endParaRPr/>
          </a:p>
        </p:txBody>
      </p:sp>
      <p:pic>
        <p:nvPicPr>
          <p:cNvPr id="161" name="Google Shape;161;p28"/>
          <p:cNvPicPr preferRelativeResize="0"/>
          <p:nvPr/>
        </p:nvPicPr>
        <p:blipFill rotWithShape="1">
          <a:blip r:embed="rId3">
            <a:alphaModFix/>
          </a:blip>
          <a:srcRect b="8851" l="0" r="0" t="0"/>
          <a:stretch/>
        </p:blipFill>
        <p:spPr>
          <a:xfrm>
            <a:off x="789050" y="664625"/>
            <a:ext cx="7565900" cy="41231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103675"/>
            <a:ext cx="8520600" cy="623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Report- Individual Product Tab</a:t>
            </a:r>
            <a:endParaRPr/>
          </a:p>
        </p:txBody>
      </p:sp>
      <p:pic>
        <p:nvPicPr>
          <p:cNvPr id="167" name="Google Shape;167;p29"/>
          <p:cNvPicPr preferRelativeResize="0"/>
          <p:nvPr/>
        </p:nvPicPr>
        <p:blipFill>
          <a:blip r:embed="rId3">
            <a:alphaModFix/>
          </a:blip>
          <a:stretch>
            <a:fillRect/>
          </a:stretch>
        </p:blipFill>
        <p:spPr>
          <a:xfrm>
            <a:off x="809612" y="606600"/>
            <a:ext cx="7524776" cy="4536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2276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73" name="Google Shape;173;p30"/>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283845" lvl="0" marL="457200" rtl="0" algn="l">
              <a:spcBef>
                <a:spcPts val="1200"/>
              </a:spcBef>
              <a:spcAft>
                <a:spcPts val="0"/>
              </a:spcAft>
              <a:buClr>
                <a:srgbClr val="000000"/>
              </a:buClr>
              <a:buSzPts val="870"/>
              <a:buFont typeface="Arial"/>
              <a:buChar char="●"/>
            </a:pPr>
            <a:r>
              <a:rPr lang="en" sz="1360">
                <a:solidFill>
                  <a:srgbClr val="000000"/>
                </a:solidFill>
              </a:rPr>
              <a:t>The company demonstrates strong revenue growth and stable demand, indicating a solid performance.</a:t>
            </a:r>
            <a:br>
              <a:rPr lang="en" sz="1360">
                <a:solidFill>
                  <a:srgbClr val="000000"/>
                </a:solidFill>
              </a:rPr>
            </a:br>
            <a:endParaRPr sz="1360">
              <a:solidFill>
                <a:srgbClr val="000000"/>
              </a:solidFill>
            </a:endParaRPr>
          </a:p>
          <a:p>
            <a:pPr indent="-283845" lvl="0" marL="457200" rtl="0" algn="l">
              <a:spcBef>
                <a:spcPts val="0"/>
              </a:spcBef>
              <a:spcAft>
                <a:spcPts val="0"/>
              </a:spcAft>
              <a:buClr>
                <a:srgbClr val="000000"/>
              </a:buClr>
              <a:buSzPts val="870"/>
              <a:buFont typeface="Arial"/>
              <a:buChar char="●"/>
            </a:pPr>
            <a:r>
              <a:rPr lang="en" sz="1360">
                <a:solidFill>
                  <a:srgbClr val="000000"/>
                </a:solidFill>
              </a:rPr>
              <a:t>However, high return rates and low customer ratings highlight underlying experience gaps that require immediate attention.</a:t>
            </a:r>
            <a:br>
              <a:rPr lang="en" sz="1360">
                <a:solidFill>
                  <a:srgbClr val="000000"/>
                </a:solidFill>
              </a:rPr>
            </a:br>
            <a:endParaRPr sz="1360">
              <a:solidFill>
                <a:srgbClr val="000000"/>
              </a:solidFill>
            </a:endParaRPr>
          </a:p>
          <a:p>
            <a:pPr indent="-283845" lvl="0" marL="457200" rtl="0" algn="l">
              <a:spcBef>
                <a:spcPts val="0"/>
              </a:spcBef>
              <a:spcAft>
                <a:spcPts val="0"/>
              </a:spcAft>
              <a:buClr>
                <a:srgbClr val="000000"/>
              </a:buClr>
              <a:buSzPts val="870"/>
              <a:buFont typeface="Arial"/>
              <a:buChar char="●"/>
            </a:pPr>
            <a:r>
              <a:rPr lang="en" sz="1360">
                <a:solidFill>
                  <a:srgbClr val="000000"/>
                </a:solidFill>
              </a:rPr>
              <a:t>Revenue concentration across specific zones, products, customer segments increases strategic exposure risk.</a:t>
            </a:r>
            <a:br>
              <a:rPr lang="en" sz="1360">
                <a:solidFill>
                  <a:srgbClr val="000000"/>
                </a:solidFill>
              </a:rPr>
            </a:br>
            <a:endParaRPr sz="1360">
              <a:solidFill>
                <a:srgbClr val="000000"/>
              </a:solidFill>
            </a:endParaRPr>
          </a:p>
          <a:p>
            <a:pPr indent="-283845" lvl="0" marL="457200" rtl="0" algn="l">
              <a:spcBef>
                <a:spcPts val="0"/>
              </a:spcBef>
              <a:spcAft>
                <a:spcPts val="0"/>
              </a:spcAft>
              <a:buClr>
                <a:srgbClr val="000000"/>
              </a:buClr>
              <a:buSzPts val="870"/>
              <a:buFont typeface="Arial"/>
              <a:buChar char="●"/>
            </a:pPr>
            <a:r>
              <a:rPr lang="en" sz="1360">
                <a:solidFill>
                  <a:srgbClr val="000000"/>
                </a:solidFill>
              </a:rPr>
              <a:t>Customer segmentation reveals significant retention and re-engagement opportunities, particularly among Dormant and high-value customers.</a:t>
            </a:r>
            <a:br>
              <a:rPr lang="en" sz="1360">
                <a:solidFill>
                  <a:srgbClr val="000000"/>
                </a:solidFill>
              </a:rPr>
            </a:br>
            <a:endParaRPr sz="1360">
              <a:solidFill>
                <a:srgbClr val="000000"/>
              </a:solidFill>
            </a:endParaRPr>
          </a:p>
          <a:p>
            <a:pPr indent="-283845" lvl="0" marL="457200" rtl="0" algn="l">
              <a:spcBef>
                <a:spcPts val="0"/>
              </a:spcBef>
              <a:spcAft>
                <a:spcPts val="0"/>
              </a:spcAft>
              <a:buClr>
                <a:srgbClr val="000000"/>
              </a:buClr>
              <a:buSzPts val="870"/>
              <a:buFont typeface="Arial"/>
              <a:buChar char="●"/>
            </a:pPr>
            <a:r>
              <a:rPr lang="en" sz="1360">
                <a:solidFill>
                  <a:srgbClr val="000000"/>
                </a:solidFill>
              </a:rPr>
              <a:t>By combining quality improvement, targeted loyalty programs, and data-driven promotional strategies, the company can strengthen long-term customer relationships while sustaining growth momentum.</a:t>
            </a:r>
            <a:br>
              <a:rPr lang="en" sz="1360">
                <a:solidFill>
                  <a:srgbClr val="000000"/>
                </a:solidFill>
              </a:rPr>
            </a:br>
            <a:endParaRPr sz="1360">
              <a:solidFill>
                <a:srgbClr val="000000"/>
              </a:solidFill>
            </a:endParaRPr>
          </a:p>
          <a:p>
            <a:pPr indent="0" lvl="0" marL="0" rtl="0" algn="l">
              <a:spcBef>
                <a:spcPts val="1200"/>
              </a:spcBef>
              <a:spcAft>
                <a:spcPts val="1200"/>
              </a:spcAft>
              <a:buSzPts val="770"/>
              <a:buNone/>
            </a:pPr>
            <a:r>
              <a:t/>
            </a:r>
            <a:endParaRPr sz="136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